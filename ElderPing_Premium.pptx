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72" r:id="rId5"/>
    <p:sldId id="260" r:id="rId6"/>
    <p:sldId id="261" r:id="rId7"/>
    <p:sldId id="262" r:id="rId8"/>
    <p:sldId id="27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6" d="100"/>
          <a:sy n="96" d="100"/>
        </p:scale>
        <p:origin x="42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085375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10" Type="http://schemas.openxmlformats.org/officeDocument/2006/relationships/image" Target="../media/image17.png"/><Relationship Id="rId4" Type="http://schemas.openxmlformats.org/officeDocument/2006/relationships/image" Target="../media/image5.png"/><Relationship Id="rId9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9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13.png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2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Relationship Id="rId9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3.png"/><Relationship Id="rId7" Type="http://schemas.openxmlformats.org/officeDocument/2006/relationships/image" Target="../media/image21.png"/><Relationship Id="rId12" Type="http://schemas.openxmlformats.org/officeDocument/2006/relationships/image" Target="../media/image2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11" Type="http://schemas.openxmlformats.org/officeDocument/2006/relationships/image" Target="../media/image22.png"/><Relationship Id="rId5" Type="http://schemas.openxmlformats.org/officeDocument/2006/relationships/image" Target="../media/image19.png"/><Relationship Id="rId10" Type="http://schemas.openxmlformats.org/officeDocument/2006/relationships/image" Target="../media/image28.png"/><Relationship Id="rId4" Type="http://schemas.openxmlformats.org/officeDocument/2006/relationships/image" Target="../media/image23.png"/><Relationship Id="rId9" Type="http://schemas.openxmlformats.org/officeDocument/2006/relationships/image" Target="../media/image27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5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20.png"/><Relationship Id="rId10" Type="http://schemas.openxmlformats.org/officeDocument/2006/relationships/image" Target="../media/image27.png"/><Relationship Id="rId4" Type="http://schemas.openxmlformats.org/officeDocument/2006/relationships/image" Target="../media/image19.png"/><Relationship Id="rId9" Type="http://schemas.openxmlformats.org/officeDocument/2006/relationships/image" Target="../media/image3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23760" y="228600"/>
            <a:ext cx="91440" cy="91440"/>
          </a:xfrm>
          <a:prstGeom prst="ellipse">
            <a:avLst/>
          </a:prstGeom>
          <a:solidFill>
            <a:srgbClr val="00C9A7">
              <a:alpha val="30000"/>
            </a:srgbClr>
          </a:solidFill>
          <a:ln w="12700">
            <a:solidFill>
              <a:srgbClr val="00C9A7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223760" y="521208"/>
            <a:ext cx="91440" cy="91440"/>
          </a:xfrm>
          <a:prstGeom prst="ellipse">
            <a:avLst/>
          </a:prstGeom>
          <a:solidFill>
            <a:srgbClr val="00C9A7">
              <a:alpha val="30000"/>
            </a:srgbClr>
          </a:solidFill>
          <a:ln w="12700">
            <a:solidFill>
              <a:srgbClr val="00C9A7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223760" y="813816"/>
            <a:ext cx="91440" cy="91440"/>
          </a:xfrm>
          <a:prstGeom prst="ellipse">
            <a:avLst/>
          </a:prstGeom>
          <a:solidFill>
            <a:srgbClr val="00C9A7">
              <a:alpha val="30000"/>
            </a:srgbClr>
          </a:solidFill>
          <a:ln w="12700">
            <a:solidFill>
              <a:srgbClr val="00C9A7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223760" y="1106424"/>
            <a:ext cx="91440" cy="91440"/>
          </a:xfrm>
          <a:prstGeom prst="ellipse">
            <a:avLst/>
          </a:prstGeom>
          <a:solidFill>
            <a:srgbClr val="00C9A7">
              <a:alpha val="30000"/>
            </a:srgbClr>
          </a:solidFill>
          <a:ln w="12700">
            <a:solidFill>
              <a:srgbClr val="00C9A7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223760" y="1399032"/>
            <a:ext cx="91440" cy="91440"/>
          </a:xfrm>
          <a:prstGeom prst="ellipse">
            <a:avLst/>
          </a:prstGeom>
          <a:solidFill>
            <a:srgbClr val="00C9A7">
              <a:alpha val="30000"/>
            </a:srgbClr>
          </a:solidFill>
          <a:ln w="12700">
            <a:solidFill>
              <a:srgbClr val="00C9A7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516368" y="228600"/>
            <a:ext cx="91440" cy="91440"/>
          </a:xfrm>
          <a:prstGeom prst="ellipse">
            <a:avLst/>
          </a:prstGeom>
          <a:solidFill>
            <a:srgbClr val="00C9A7">
              <a:alpha val="30000"/>
            </a:srgbClr>
          </a:solidFill>
          <a:ln w="12700">
            <a:solidFill>
              <a:srgbClr val="00C9A7">
                <a:alpha val="3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516368" y="521208"/>
            <a:ext cx="91440" cy="91440"/>
          </a:xfrm>
          <a:prstGeom prst="ellipse">
            <a:avLst/>
          </a:prstGeom>
          <a:solidFill>
            <a:srgbClr val="00C9A7">
              <a:alpha val="30000"/>
            </a:srgbClr>
          </a:solidFill>
          <a:ln w="12700">
            <a:solidFill>
              <a:srgbClr val="00C9A7">
                <a:alpha val="3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16368" y="813816"/>
            <a:ext cx="91440" cy="91440"/>
          </a:xfrm>
          <a:prstGeom prst="ellipse">
            <a:avLst/>
          </a:prstGeom>
          <a:solidFill>
            <a:srgbClr val="00C9A7">
              <a:alpha val="30000"/>
            </a:srgbClr>
          </a:solidFill>
          <a:ln w="12700">
            <a:solidFill>
              <a:srgbClr val="00C9A7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516368" y="1106424"/>
            <a:ext cx="91440" cy="91440"/>
          </a:xfrm>
          <a:prstGeom prst="ellipse">
            <a:avLst/>
          </a:prstGeom>
          <a:solidFill>
            <a:srgbClr val="00C9A7">
              <a:alpha val="30000"/>
            </a:srgbClr>
          </a:solidFill>
          <a:ln w="12700">
            <a:solidFill>
              <a:srgbClr val="00C9A7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516368" y="1399032"/>
            <a:ext cx="91440" cy="91440"/>
          </a:xfrm>
          <a:prstGeom prst="ellipse">
            <a:avLst/>
          </a:prstGeom>
          <a:solidFill>
            <a:srgbClr val="00C9A7">
              <a:alpha val="30000"/>
            </a:srgbClr>
          </a:solidFill>
          <a:ln w="12700">
            <a:solidFill>
              <a:srgbClr val="00C9A7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808976" y="228600"/>
            <a:ext cx="91440" cy="91440"/>
          </a:xfrm>
          <a:prstGeom prst="ellipse">
            <a:avLst/>
          </a:prstGeom>
          <a:solidFill>
            <a:srgbClr val="00C9A7">
              <a:alpha val="30000"/>
            </a:srgbClr>
          </a:solidFill>
          <a:ln w="12700">
            <a:solidFill>
              <a:srgbClr val="00C9A7">
                <a:alpha val="3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808976" y="521208"/>
            <a:ext cx="91440" cy="91440"/>
          </a:xfrm>
          <a:prstGeom prst="ellipse">
            <a:avLst/>
          </a:prstGeom>
          <a:solidFill>
            <a:srgbClr val="00C9A7">
              <a:alpha val="30000"/>
            </a:srgbClr>
          </a:solidFill>
          <a:ln w="12700">
            <a:solidFill>
              <a:srgbClr val="00C9A7">
                <a:alpha val="3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808976" y="813816"/>
            <a:ext cx="91440" cy="91440"/>
          </a:xfrm>
          <a:prstGeom prst="ellipse">
            <a:avLst/>
          </a:prstGeom>
          <a:solidFill>
            <a:srgbClr val="00C9A7">
              <a:alpha val="30000"/>
            </a:srgbClr>
          </a:solidFill>
          <a:ln w="12700">
            <a:solidFill>
              <a:srgbClr val="00C9A7">
                <a:alpha val="3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808976" y="1106424"/>
            <a:ext cx="91440" cy="91440"/>
          </a:xfrm>
          <a:prstGeom prst="ellipse">
            <a:avLst/>
          </a:prstGeom>
          <a:solidFill>
            <a:srgbClr val="00C9A7">
              <a:alpha val="30000"/>
            </a:srgbClr>
          </a:solidFill>
          <a:ln w="12700">
            <a:solidFill>
              <a:srgbClr val="00C9A7">
                <a:alpha val="3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808976" y="1399032"/>
            <a:ext cx="91440" cy="91440"/>
          </a:xfrm>
          <a:prstGeom prst="ellipse">
            <a:avLst/>
          </a:prstGeom>
          <a:solidFill>
            <a:srgbClr val="00C9A7">
              <a:alpha val="30000"/>
            </a:srgbClr>
          </a:solidFill>
          <a:ln w="12700">
            <a:solidFill>
              <a:srgbClr val="00C9A7">
                <a:alpha val="3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01584" y="228600"/>
            <a:ext cx="91440" cy="91440"/>
          </a:xfrm>
          <a:prstGeom prst="ellipse">
            <a:avLst/>
          </a:prstGeom>
          <a:solidFill>
            <a:srgbClr val="00C9A7">
              <a:alpha val="30000"/>
            </a:srgbClr>
          </a:solidFill>
          <a:ln w="12700">
            <a:solidFill>
              <a:srgbClr val="00C9A7">
                <a:alpha val="3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101584" y="521208"/>
            <a:ext cx="91440" cy="91440"/>
          </a:xfrm>
          <a:prstGeom prst="ellipse">
            <a:avLst/>
          </a:prstGeom>
          <a:solidFill>
            <a:srgbClr val="00C9A7">
              <a:alpha val="30000"/>
            </a:srgbClr>
          </a:solidFill>
          <a:ln w="12700">
            <a:solidFill>
              <a:srgbClr val="00C9A7">
                <a:alpha val="3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101584" y="813816"/>
            <a:ext cx="91440" cy="91440"/>
          </a:xfrm>
          <a:prstGeom prst="ellipse">
            <a:avLst/>
          </a:prstGeom>
          <a:solidFill>
            <a:srgbClr val="00C9A7">
              <a:alpha val="30000"/>
            </a:srgbClr>
          </a:solidFill>
          <a:ln w="12700">
            <a:solidFill>
              <a:srgbClr val="00C9A7">
                <a:alpha val="3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101584" y="1106424"/>
            <a:ext cx="91440" cy="91440"/>
          </a:xfrm>
          <a:prstGeom prst="ellipse">
            <a:avLst/>
          </a:prstGeom>
          <a:solidFill>
            <a:srgbClr val="00C9A7">
              <a:alpha val="30000"/>
            </a:srgbClr>
          </a:solidFill>
          <a:ln w="12700">
            <a:solidFill>
              <a:srgbClr val="00C9A7">
                <a:alpha val="3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101584" y="1399032"/>
            <a:ext cx="91440" cy="91440"/>
          </a:xfrm>
          <a:prstGeom prst="ellipse">
            <a:avLst/>
          </a:prstGeom>
          <a:solidFill>
            <a:srgbClr val="00C9A7">
              <a:alpha val="30000"/>
            </a:srgbClr>
          </a:solidFill>
          <a:ln w="12700">
            <a:solidFill>
              <a:srgbClr val="00C9A7">
                <a:alpha val="3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394192" y="228600"/>
            <a:ext cx="91440" cy="91440"/>
          </a:xfrm>
          <a:prstGeom prst="ellipse">
            <a:avLst/>
          </a:prstGeom>
          <a:solidFill>
            <a:srgbClr val="00C9A7">
              <a:alpha val="30000"/>
            </a:srgbClr>
          </a:solidFill>
          <a:ln w="12700">
            <a:solidFill>
              <a:srgbClr val="00C9A7">
                <a:alpha val="3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394192" y="521208"/>
            <a:ext cx="91440" cy="91440"/>
          </a:xfrm>
          <a:prstGeom prst="ellipse">
            <a:avLst/>
          </a:prstGeom>
          <a:solidFill>
            <a:srgbClr val="00C9A7">
              <a:alpha val="30000"/>
            </a:srgbClr>
          </a:solidFill>
          <a:ln w="12700">
            <a:solidFill>
              <a:srgbClr val="00C9A7">
                <a:alpha val="3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394192" y="813816"/>
            <a:ext cx="91440" cy="91440"/>
          </a:xfrm>
          <a:prstGeom prst="ellipse">
            <a:avLst/>
          </a:prstGeom>
          <a:solidFill>
            <a:srgbClr val="00C9A7">
              <a:alpha val="30000"/>
            </a:srgbClr>
          </a:solidFill>
          <a:ln w="12700">
            <a:solidFill>
              <a:srgbClr val="00C9A7">
                <a:alpha val="3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394192" y="1106424"/>
            <a:ext cx="91440" cy="91440"/>
          </a:xfrm>
          <a:prstGeom prst="ellipse">
            <a:avLst/>
          </a:prstGeom>
          <a:solidFill>
            <a:srgbClr val="00C9A7">
              <a:alpha val="30000"/>
            </a:srgbClr>
          </a:solidFill>
          <a:ln w="12700">
            <a:solidFill>
              <a:srgbClr val="00C9A7">
                <a:alpha val="3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394192" y="1399032"/>
            <a:ext cx="91440" cy="91440"/>
          </a:xfrm>
          <a:prstGeom prst="ellipse">
            <a:avLst/>
          </a:prstGeom>
          <a:solidFill>
            <a:srgbClr val="00C9A7">
              <a:alpha val="30000"/>
            </a:srgbClr>
          </a:solidFill>
          <a:ln w="12700">
            <a:solidFill>
              <a:srgbClr val="00C9A7">
                <a:alpha val="3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74320" y="3566160"/>
            <a:ext cx="91440" cy="91440"/>
          </a:xfrm>
          <a:prstGeom prst="ellipse">
            <a:avLst/>
          </a:prstGeom>
          <a:solidFill>
            <a:srgbClr val="38BDF8">
              <a:alpha val="28000"/>
            </a:srgbClr>
          </a:solidFill>
          <a:ln w="12700">
            <a:solidFill>
              <a:srgbClr val="38BDF8">
                <a:alpha val="28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74320" y="3858768"/>
            <a:ext cx="91440" cy="91440"/>
          </a:xfrm>
          <a:prstGeom prst="ellipse">
            <a:avLst/>
          </a:prstGeom>
          <a:solidFill>
            <a:srgbClr val="38BDF8">
              <a:alpha val="28000"/>
            </a:srgbClr>
          </a:solidFill>
          <a:ln w="12700">
            <a:solidFill>
              <a:srgbClr val="38BDF8">
                <a:alpha val="28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74320" y="4151376"/>
            <a:ext cx="91440" cy="91440"/>
          </a:xfrm>
          <a:prstGeom prst="ellipse">
            <a:avLst/>
          </a:prstGeom>
          <a:solidFill>
            <a:srgbClr val="38BDF8">
              <a:alpha val="28000"/>
            </a:srgbClr>
          </a:solidFill>
          <a:ln w="12700">
            <a:solidFill>
              <a:srgbClr val="38BDF8">
                <a:alpha val="28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74320" y="4443984"/>
            <a:ext cx="91440" cy="91440"/>
          </a:xfrm>
          <a:prstGeom prst="ellipse">
            <a:avLst/>
          </a:prstGeom>
          <a:solidFill>
            <a:srgbClr val="38BDF8">
              <a:alpha val="28000"/>
            </a:srgbClr>
          </a:solidFill>
          <a:ln w="12700">
            <a:solidFill>
              <a:srgbClr val="38BDF8">
                <a:alpha val="28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66928" y="3566160"/>
            <a:ext cx="91440" cy="91440"/>
          </a:xfrm>
          <a:prstGeom prst="ellipse">
            <a:avLst/>
          </a:prstGeom>
          <a:solidFill>
            <a:srgbClr val="38BDF8">
              <a:alpha val="28000"/>
            </a:srgbClr>
          </a:solidFill>
          <a:ln w="12700">
            <a:solidFill>
              <a:srgbClr val="38BDF8">
                <a:alpha val="28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66928" y="3858768"/>
            <a:ext cx="91440" cy="91440"/>
          </a:xfrm>
          <a:prstGeom prst="ellipse">
            <a:avLst/>
          </a:prstGeom>
          <a:solidFill>
            <a:srgbClr val="38BDF8">
              <a:alpha val="28000"/>
            </a:srgbClr>
          </a:solidFill>
          <a:ln w="12700">
            <a:solidFill>
              <a:srgbClr val="38BDF8">
                <a:alpha val="28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66928" y="4151376"/>
            <a:ext cx="91440" cy="91440"/>
          </a:xfrm>
          <a:prstGeom prst="ellipse">
            <a:avLst/>
          </a:prstGeom>
          <a:solidFill>
            <a:srgbClr val="38BDF8">
              <a:alpha val="28000"/>
            </a:srgbClr>
          </a:solidFill>
          <a:ln w="12700">
            <a:solidFill>
              <a:srgbClr val="38BDF8">
                <a:alpha val="28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66928" y="4443984"/>
            <a:ext cx="91440" cy="91440"/>
          </a:xfrm>
          <a:prstGeom prst="ellipse">
            <a:avLst/>
          </a:prstGeom>
          <a:solidFill>
            <a:srgbClr val="38BDF8">
              <a:alpha val="28000"/>
            </a:srgbClr>
          </a:solidFill>
          <a:ln w="12700">
            <a:solidFill>
              <a:srgbClr val="38BDF8">
                <a:alpha val="28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59536" y="3566160"/>
            <a:ext cx="91440" cy="91440"/>
          </a:xfrm>
          <a:prstGeom prst="ellipse">
            <a:avLst/>
          </a:prstGeom>
          <a:solidFill>
            <a:srgbClr val="38BDF8">
              <a:alpha val="28000"/>
            </a:srgbClr>
          </a:solidFill>
          <a:ln w="12700">
            <a:solidFill>
              <a:srgbClr val="38BDF8">
                <a:alpha val="28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59536" y="3858768"/>
            <a:ext cx="91440" cy="91440"/>
          </a:xfrm>
          <a:prstGeom prst="ellipse">
            <a:avLst/>
          </a:prstGeom>
          <a:solidFill>
            <a:srgbClr val="38BDF8">
              <a:alpha val="28000"/>
            </a:srgbClr>
          </a:solidFill>
          <a:ln w="12700">
            <a:solidFill>
              <a:srgbClr val="38BDF8">
                <a:alpha val="28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59536" y="4151376"/>
            <a:ext cx="91440" cy="91440"/>
          </a:xfrm>
          <a:prstGeom prst="ellipse">
            <a:avLst/>
          </a:prstGeom>
          <a:solidFill>
            <a:srgbClr val="38BDF8">
              <a:alpha val="28000"/>
            </a:srgbClr>
          </a:solidFill>
          <a:ln w="12700">
            <a:solidFill>
              <a:srgbClr val="38BDF8">
                <a:alpha val="28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59536" y="4443984"/>
            <a:ext cx="91440" cy="91440"/>
          </a:xfrm>
          <a:prstGeom prst="ellipse">
            <a:avLst/>
          </a:prstGeom>
          <a:solidFill>
            <a:srgbClr val="38BDF8">
              <a:alpha val="28000"/>
            </a:srgbClr>
          </a:solidFill>
          <a:ln w="12700">
            <a:solidFill>
              <a:srgbClr val="38BDF8">
                <a:alpha val="28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152144" y="3566160"/>
            <a:ext cx="91440" cy="91440"/>
          </a:xfrm>
          <a:prstGeom prst="ellipse">
            <a:avLst/>
          </a:prstGeom>
          <a:solidFill>
            <a:srgbClr val="38BDF8">
              <a:alpha val="28000"/>
            </a:srgbClr>
          </a:solidFill>
          <a:ln w="12700">
            <a:solidFill>
              <a:srgbClr val="38BDF8">
                <a:alpha val="28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152144" y="3858768"/>
            <a:ext cx="91440" cy="91440"/>
          </a:xfrm>
          <a:prstGeom prst="ellipse">
            <a:avLst/>
          </a:prstGeom>
          <a:solidFill>
            <a:srgbClr val="38BDF8">
              <a:alpha val="28000"/>
            </a:srgbClr>
          </a:solidFill>
          <a:ln w="12700">
            <a:solidFill>
              <a:srgbClr val="38BDF8">
                <a:alpha val="28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152144" y="4151376"/>
            <a:ext cx="91440" cy="91440"/>
          </a:xfrm>
          <a:prstGeom prst="ellipse">
            <a:avLst/>
          </a:prstGeom>
          <a:solidFill>
            <a:srgbClr val="38BDF8">
              <a:alpha val="28000"/>
            </a:srgbClr>
          </a:solidFill>
          <a:ln w="12700">
            <a:solidFill>
              <a:srgbClr val="38BDF8">
                <a:alpha val="28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152144" y="4443984"/>
            <a:ext cx="91440" cy="91440"/>
          </a:xfrm>
          <a:prstGeom prst="ellipse">
            <a:avLst/>
          </a:prstGeom>
          <a:solidFill>
            <a:srgbClr val="38BDF8">
              <a:alpha val="28000"/>
            </a:srgbClr>
          </a:solidFill>
          <a:ln w="12700">
            <a:solidFill>
              <a:srgbClr val="38BDF8">
                <a:alpha val="28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097280" y="640080"/>
            <a:ext cx="6949440" cy="3886200"/>
          </a:xfrm>
          <a:prstGeom prst="roundRect">
            <a:avLst>
              <a:gd name="adj" fmla="val 4235"/>
            </a:avLst>
          </a:prstGeom>
          <a:solidFill>
            <a:srgbClr val="0F1F3D">
              <a:alpha val="80000"/>
            </a:srgbClr>
          </a:solidFill>
          <a:ln w="10160">
            <a:solidFill>
              <a:srgbClr val="00C9A7">
                <a:alpha val="45000"/>
              </a:srgbClr>
            </a:solidFill>
            <a:prstDash val="solid"/>
          </a:ln>
          <a:effectLst>
            <a:outerShdw blurRad="508000" dist="127000" dir="5400000" algn="bl" rotWithShape="0">
              <a:srgbClr val="000000">
                <a:alpha val="45000"/>
              </a:srgbClr>
            </a:outerShdw>
          </a:effectLst>
        </p:spPr>
      </p:sp>
      <p:pic>
        <p:nvPicPr>
          <p:cNvPr id="44" name="Image 0" descr="preencoded.png"/>
          <p:cNvPicPr>
            <a:picLocks noChangeAspect="1"/>
          </p:cNvPicPr>
          <p:nvPr/>
        </p:nvPicPr>
        <p:blipFill>
          <a:blip r:embed="rId3">
            <a:alphaModFix amt="18000"/>
          </a:blip>
          <a:stretch>
            <a:fillRect/>
          </a:stretch>
        </p:blipFill>
        <p:spPr>
          <a:xfrm>
            <a:off x="6217920" y="1920240"/>
            <a:ext cx="2468880" cy="2468880"/>
          </a:xfrm>
          <a:prstGeom prst="rect">
            <a:avLst/>
          </a:prstGeom>
        </p:spPr>
      </p:pic>
      <p:sp>
        <p:nvSpPr>
          <p:cNvPr id="45" name="Text 42"/>
          <p:cNvSpPr/>
          <p:nvPr/>
        </p:nvSpPr>
        <p:spPr>
          <a:xfrm>
            <a:off x="1097280" y="1005840"/>
            <a:ext cx="6949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ElderPing</a:t>
            </a:r>
            <a:endParaRPr lang="en-US" sz="6200" dirty="0"/>
          </a:p>
        </p:txBody>
      </p:sp>
      <p:sp>
        <p:nvSpPr>
          <p:cNvPr id="46" name="Shape 43"/>
          <p:cNvSpPr/>
          <p:nvPr/>
        </p:nvSpPr>
        <p:spPr>
          <a:xfrm>
            <a:off x="3200400" y="2194560"/>
            <a:ext cx="2743200" cy="50292"/>
          </a:xfrm>
          <a:prstGeom prst="roundRect">
            <a:avLst>
              <a:gd name="adj" fmla="val 36364"/>
            </a:avLst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1097280" y="233172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Platform on AWS</a:t>
            </a:r>
            <a:endParaRPr lang="en-US" sz="2200" dirty="0"/>
          </a:p>
        </p:txBody>
      </p:sp>
      <p:sp>
        <p:nvSpPr>
          <p:cNvPr id="48" name="Text 45"/>
          <p:cNvSpPr/>
          <p:nvPr/>
        </p:nvSpPr>
        <p:spPr>
          <a:xfrm>
            <a:off x="1097280" y="297180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5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Elders  •  Caregivers  •  Healthcare Providers</a:t>
            </a:r>
            <a:endParaRPr lang="en-US" sz="1400" dirty="0"/>
          </a:p>
        </p:txBody>
      </p:sp>
      <p:sp>
        <p:nvSpPr>
          <p:cNvPr id="49" name="Shape 46"/>
          <p:cNvSpPr/>
          <p:nvPr/>
        </p:nvSpPr>
        <p:spPr>
          <a:xfrm>
            <a:off x="6720840" y="4663440"/>
            <a:ext cx="2194560" cy="274320"/>
          </a:xfrm>
          <a:prstGeom prst="roundRect">
            <a:avLst>
              <a:gd name="adj" fmla="val 23333"/>
            </a:avLst>
          </a:prstGeom>
          <a:solidFill>
            <a:srgbClr val="162644"/>
          </a:solidFill>
          <a:ln w="6350">
            <a:solidFill>
              <a:srgbClr val="00C9A7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6720840" y="467258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A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Certified  •  GH200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92608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ElderPing Exists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3931920" cy="3520440"/>
          </a:xfrm>
          <a:prstGeom prst="roundRect">
            <a:avLst>
              <a:gd name="adj" fmla="val 3117"/>
            </a:avLst>
          </a:prstGeom>
          <a:solidFill>
            <a:srgbClr val="162644"/>
          </a:solidFill>
          <a:ln w="6350">
            <a:solidFill>
              <a:srgbClr val="E53E3E">
                <a:alpha val="60000"/>
              </a:srgbClr>
            </a:solidFill>
            <a:prstDash val="solid"/>
          </a:ln>
          <a:effectLst>
            <a:outerShdw blurRad="127000" dist="38100" dir="5400000" algn="bl" rotWithShape="0">
              <a:srgbClr val="000000">
                <a:alpha val="2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02412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CHALLENGES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444752"/>
            <a:ext cx="35661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C5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Elderly people living alone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C5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members live far away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C5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Medication adherence is difficult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C5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emergencies require immediate response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5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Caregivers lack continuous visibility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800600" y="914400"/>
            <a:ext cx="3977640" cy="3520440"/>
          </a:xfrm>
          <a:prstGeom prst="roundRect">
            <a:avLst>
              <a:gd name="adj" fmla="val 3117"/>
            </a:avLst>
          </a:prstGeom>
          <a:solidFill>
            <a:srgbClr val="162644"/>
          </a:solidFill>
          <a:ln w="6350">
            <a:solidFill>
              <a:srgbClr val="00C9A7">
                <a:alpha val="65000"/>
              </a:srgbClr>
            </a:solidFill>
            <a:prstDash val="solid"/>
          </a:ln>
          <a:effectLst>
            <a:outerShdw blurRad="127000" dist="38100" dir="5400000" algn="bl" rotWithShape="0">
              <a:srgbClr val="000000">
                <a:alpha val="2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83480" y="1024128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SOLUTION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983480" y="1444752"/>
            <a:ext cx="36118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C5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health monitoring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C5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Medication reminders &amp; alerts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C5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healthcare guidance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C5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alerts to caregivers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5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patient record management</a:t>
            </a:r>
            <a:endParaRPr lang="en-US" sz="13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4520" y="4544568"/>
            <a:ext cx="329184" cy="32918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508760" y="491032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Elder</a:t>
            </a:r>
            <a:endParaRPr lang="en-US" sz="9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3400" y="4544568"/>
            <a:ext cx="329184" cy="32918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977640" y="491032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Caregiver</a:t>
            </a:r>
            <a:endParaRPr lang="en-US" sz="90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12280" y="4544568"/>
            <a:ext cx="329184" cy="32918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446520" y="491032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Provider</a:t>
            </a:r>
            <a:endParaRPr lang="en-US" sz="900" dirty="0"/>
          </a:p>
        </p:txBody>
      </p:sp>
      <p:sp>
        <p:nvSpPr>
          <p:cNvPr id="16" name="Text 11"/>
          <p:cNvSpPr/>
          <p:nvPr/>
        </p:nvSpPr>
        <p:spPr>
          <a:xfrm>
            <a:off x="274320" y="484632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92608"/>
            <a:ext cx="109728" cy="109728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ElderPing at a Glance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896112"/>
            <a:ext cx="2926080" cy="749808"/>
          </a:xfrm>
          <a:prstGeom prst="roundRect">
            <a:avLst>
              <a:gd name="adj" fmla="val 12195"/>
            </a:avLst>
          </a:prstGeom>
          <a:solidFill>
            <a:srgbClr val="162644"/>
          </a:solidFill>
          <a:ln w="10160">
            <a:solidFill>
              <a:srgbClr val="00C9A7">
                <a:alpha val="65000"/>
              </a:srgbClr>
            </a:solidFill>
            <a:prstDash val="solid"/>
          </a:ln>
          <a:effectLst>
            <a:outerShdw blurRad="101600" dist="38100" dir="5400000" algn="bl" rotWithShape="0">
              <a:srgbClr val="000000">
                <a:alpha val="20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051560"/>
            <a:ext cx="429768" cy="4297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61288" y="987552"/>
            <a:ext cx="2176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Elder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161288" y="1289304"/>
            <a:ext cx="21762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/ Web App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1920240" y="1664208"/>
            <a:ext cx="91440" cy="164592"/>
          </a:xfrm>
          <a:prstGeom prst="ellipse">
            <a:avLst/>
          </a:prstGeom>
          <a:solidFill>
            <a:srgbClr val="00C9A7">
              <a:alpha val="60000"/>
            </a:srgbClr>
          </a:solidFill>
          <a:ln w="12700">
            <a:solidFill>
              <a:srgbClr val="00C9A7">
                <a:alpha val="60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02920" y="1856232"/>
            <a:ext cx="2926080" cy="749808"/>
          </a:xfrm>
          <a:prstGeom prst="roundRect">
            <a:avLst>
              <a:gd name="adj" fmla="val 12195"/>
            </a:avLst>
          </a:prstGeom>
          <a:solidFill>
            <a:srgbClr val="162644"/>
          </a:solidFill>
          <a:ln w="10160">
            <a:solidFill>
              <a:srgbClr val="38BDF8">
                <a:alpha val="65000"/>
              </a:srgbClr>
            </a:solidFill>
            <a:prstDash val="solid"/>
          </a:ln>
          <a:effectLst>
            <a:outerShdw blurRad="101600" dist="38100" dir="5400000" algn="bl" rotWithShape="0">
              <a:srgbClr val="000000">
                <a:alpha val="20000"/>
              </a:srgbClr>
            </a:outerShdw>
          </a:effectLst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2011680"/>
            <a:ext cx="429768" cy="42976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61288" y="1947672"/>
            <a:ext cx="2176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Cloud Platform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1161288" y="2249424"/>
            <a:ext cx="21762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Microservices on EKS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1920240" y="2624328"/>
            <a:ext cx="91440" cy="164592"/>
          </a:xfrm>
          <a:prstGeom prst="ellipse">
            <a:avLst/>
          </a:prstGeom>
          <a:solidFill>
            <a:srgbClr val="38BDF8">
              <a:alpha val="60000"/>
            </a:srgbClr>
          </a:solidFill>
          <a:ln w="12700">
            <a:solidFill>
              <a:srgbClr val="38BDF8">
                <a:alpha val="60000"/>
              </a:srgbClr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502920" y="2816352"/>
            <a:ext cx="2926080" cy="749808"/>
          </a:xfrm>
          <a:prstGeom prst="roundRect">
            <a:avLst>
              <a:gd name="adj" fmla="val 12195"/>
            </a:avLst>
          </a:prstGeom>
          <a:solidFill>
            <a:srgbClr val="162644"/>
          </a:solidFill>
          <a:ln w="10160">
            <a:solidFill>
              <a:srgbClr val="22C55E">
                <a:alpha val="65000"/>
              </a:srgbClr>
            </a:solidFill>
            <a:prstDash val="solid"/>
          </a:ln>
          <a:effectLst>
            <a:outerShdw blurRad="101600" dist="38100" dir="5400000" algn="bl" rotWithShape="0">
              <a:srgbClr val="000000">
                <a:alpha val="20000"/>
              </a:srgbClr>
            </a:outerShdw>
          </a:effectLst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2971800"/>
            <a:ext cx="429768" cy="42976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161288" y="2907792"/>
            <a:ext cx="2176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Services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1161288" y="3209544"/>
            <a:ext cx="21762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• Alerts • Records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1920240" y="3584448"/>
            <a:ext cx="91440" cy="164592"/>
          </a:xfrm>
          <a:prstGeom prst="ellipse">
            <a:avLst/>
          </a:prstGeom>
          <a:solidFill>
            <a:srgbClr val="22C55E">
              <a:alpha val="60000"/>
            </a:srgbClr>
          </a:solidFill>
          <a:ln w="12700">
            <a:solidFill>
              <a:srgbClr val="22C55E">
                <a:alpha val="60000"/>
              </a:srgbClr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502920" y="3776472"/>
            <a:ext cx="2926080" cy="749808"/>
          </a:xfrm>
          <a:prstGeom prst="roundRect">
            <a:avLst>
              <a:gd name="adj" fmla="val 12195"/>
            </a:avLst>
          </a:prstGeom>
          <a:solidFill>
            <a:srgbClr val="162644"/>
          </a:solidFill>
          <a:ln w="10160">
            <a:solidFill>
              <a:srgbClr val="F59E0B">
                <a:alpha val="65000"/>
              </a:srgbClr>
            </a:solidFill>
            <a:prstDash val="solid"/>
          </a:ln>
          <a:effectLst>
            <a:outerShdw blurRad="101600" dist="38100" dir="5400000" algn="bl" rotWithShape="0">
              <a:srgbClr val="000000">
                <a:alpha val="20000"/>
              </a:srgbClr>
            </a:outerShdw>
          </a:effectLst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3931920"/>
            <a:ext cx="429768" cy="42976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161288" y="3867912"/>
            <a:ext cx="2176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Caregivers &amp; Providers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1161288" y="4169664"/>
            <a:ext cx="21762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Coordination &amp; Reports</a:t>
            </a:r>
            <a:endParaRPr lang="en-US" sz="1000" dirty="0"/>
          </a:p>
        </p:txBody>
      </p:sp>
      <p:sp>
        <p:nvSpPr>
          <p:cNvPr id="23" name="Text 17"/>
          <p:cNvSpPr/>
          <p:nvPr/>
        </p:nvSpPr>
        <p:spPr>
          <a:xfrm>
            <a:off x="4114800" y="82296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A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Attributes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114800" y="960120"/>
            <a:ext cx="4663440" cy="566928"/>
          </a:xfrm>
          <a:prstGeom prst="roundRect">
            <a:avLst>
              <a:gd name="adj" fmla="val 16129"/>
            </a:avLst>
          </a:prstGeom>
          <a:solidFill>
            <a:srgbClr val="00C9A7">
              <a:alpha val="18000"/>
            </a:srgbClr>
          </a:solidFill>
          <a:ln w="10160">
            <a:solidFill>
              <a:srgbClr val="00C9A7">
                <a:alpha val="70000"/>
              </a:srgbClr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4297680" y="1051560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Cloud-Native</a:t>
            </a:r>
            <a:endParaRPr lang="en-US" sz="1600" dirty="0"/>
          </a:p>
        </p:txBody>
      </p:sp>
      <p:sp>
        <p:nvSpPr>
          <p:cNvPr id="26" name="Shape 20"/>
          <p:cNvSpPr/>
          <p:nvPr/>
        </p:nvSpPr>
        <p:spPr>
          <a:xfrm>
            <a:off x="4114800" y="1728216"/>
            <a:ext cx="4663440" cy="566928"/>
          </a:xfrm>
          <a:prstGeom prst="roundRect">
            <a:avLst>
              <a:gd name="adj" fmla="val 16129"/>
            </a:avLst>
          </a:prstGeom>
          <a:solidFill>
            <a:srgbClr val="38BDF8">
              <a:alpha val="18000"/>
            </a:srgbClr>
          </a:solidFill>
          <a:ln w="10160">
            <a:solidFill>
              <a:srgbClr val="38BDF8">
                <a:alpha val="70000"/>
              </a:srgbClr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4297680" y="1819656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Microservices</a:t>
            </a:r>
            <a:endParaRPr lang="en-US" sz="1600" dirty="0"/>
          </a:p>
        </p:txBody>
      </p:sp>
      <p:sp>
        <p:nvSpPr>
          <p:cNvPr id="28" name="Shape 22"/>
          <p:cNvSpPr/>
          <p:nvPr/>
        </p:nvSpPr>
        <p:spPr>
          <a:xfrm>
            <a:off x="4114800" y="2496312"/>
            <a:ext cx="4663440" cy="566928"/>
          </a:xfrm>
          <a:prstGeom prst="roundRect">
            <a:avLst>
              <a:gd name="adj" fmla="val 16129"/>
            </a:avLst>
          </a:prstGeom>
          <a:solidFill>
            <a:srgbClr val="22C55E">
              <a:alpha val="18000"/>
            </a:srgbClr>
          </a:solidFill>
          <a:ln w="10160">
            <a:solidFill>
              <a:srgbClr val="22C55E">
                <a:alpha val="70000"/>
              </a:srgbClr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4297680" y="2587752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</a:t>
            </a:r>
            <a:endParaRPr lang="en-US" sz="1600" dirty="0"/>
          </a:p>
        </p:txBody>
      </p:sp>
      <p:sp>
        <p:nvSpPr>
          <p:cNvPr id="30" name="Shape 24"/>
          <p:cNvSpPr/>
          <p:nvPr/>
        </p:nvSpPr>
        <p:spPr>
          <a:xfrm>
            <a:off x="4114800" y="3264408"/>
            <a:ext cx="4663440" cy="566928"/>
          </a:xfrm>
          <a:prstGeom prst="roundRect">
            <a:avLst>
              <a:gd name="adj" fmla="val 16129"/>
            </a:avLst>
          </a:prstGeom>
          <a:solidFill>
            <a:srgbClr val="F59E0B">
              <a:alpha val="18000"/>
            </a:srgbClr>
          </a:solidFill>
          <a:ln w="10160">
            <a:solidFill>
              <a:srgbClr val="F59E0B">
                <a:alpha val="70000"/>
              </a:srgbClr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4297680" y="3355848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</a:t>
            </a:r>
            <a:endParaRPr lang="en-US" sz="1600" dirty="0"/>
          </a:p>
        </p:txBody>
      </p:sp>
      <p:sp>
        <p:nvSpPr>
          <p:cNvPr id="32" name="Shape 26"/>
          <p:cNvSpPr/>
          <p:nvPr/>
        </p:nvSpPr>
        <p:spPr>
          <a:xfrm>
            <a:off x="4114800" y="4032504"/>
            <a:ext cx="4663440" cy="566928"/>
          </a:xfrm>
          <a:prstGeom prst="roundRect">
            <a:avLst>
              <a:gd name="adj" fmla="val 16129"/>
            </a:avLst>
          </a:prstGeom>
          <a:solidFill>
            <a:srgbClr val="E879F9">
              <a:alpha val="18000"/>
            </a:srgbClr>
          </a:solidFill>
          <a:ln w="10160">
            <a:solidFill>
              <a:srgbClr val="E879F9">
                <a:alpha val="70000"/>
              </a:srgbClr>
            </a:solidFill>
            <a:prstDash val="solid"/>
          </a:ln>
        </p:spPr>
      </p:sp>
      <p:sp>
        <p:nvSpPr>
          <p:cNvPr id="33" name="Text 27"/>
          <p:cNvSpPr/>
          <p:nvPr/>
        </p:nvSpPr>
        <p:spPr>
          <a:xfrm>
            <a:off x="4297680" y="4123944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79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</a:t>
            </a:r>
            <a:endParaRPr lang="en-US" sz="1600" dirty="0"/>
          </a:p>
        </p:txBody>
      </p:sp>
      <p:sp>
        <p:nvSpPr>
          <p:cNvPr id="34" name="Text 28"/>
          <p:cNvSpPr/>
          <p:nvPr/>
        </p:nvSpPr>
        <p:spPr>
          <a:xfrm>
            <a:off x="274320" y="484632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6BBBE4F-2F49-533D-89B9-B6F98C521A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375" y="0"/>
            <a:ext cx="771525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79928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92608"/>
            <a:ext cx="109728" cy="109728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Application Features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2697480" cy="3931920"/>
          </a:xfrm>
          <a:prstGeom prst="roundRect">
            <a:avLst>
              <a:gd name="adj" fmla="val 4746"/>
            </a:avLst>
          </a:prstGeom>
          <a:solidFill>
            <a:srgbClr val="162644"/>
          </a:solidFill>
          <a:ln w="8890">
            <a:solidFill>
              <a:srgbClr val="00C9A7">
                <a:alpha val="60000"/>
              </a:srgbClr>
            </a:solidFill>
            <a:prstDash val="solid"/>
          </a:ln>
          <a:effectLst>
            <a:outerShdw blurRad="177800" dist="508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61872" y="1188720"/>
            <a:ext cx="914400" cy="914400"/>
          </a:xfrm>
          <a:prstGeom prst="ellipse">
            <a:avLst/>
          </a:prstGeom>
          <a:solidFill>
            <a:srgbClr val="00C9A7">
              <a:alpha val="18000"/>
            </a:srgbClr>
          </a:solidFill>
          <a:ln w="12700">
            <a:solidFill>
              <a:srgbClr val="00C9A7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1298448"/>
            <a:ext cx="694944" cy="6949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228600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Monitoring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48640" y="2880360"/>
            <a:ext cx="23317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5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health records and vital tracking for elders.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291840" y="914400"/>
            <a:ext cx="2697480" cy="3931920"/>
          </a:xfrm>
          <a:prstGeom prst="roundRect">
            <a:avLst>
              <a:gd name="adj" fmla="val 4746"/>
            </a:avLst>
          </a:prstGeom>
          <a:solidFill>
            <a:srgbClr val="162644"/>
          </a:solidFill>
          <a:ln w="8890">
            <a:solidFill>
              <a:srgbClr val="38BDF8">
                <a:alpha val="60000"/>
              </a:srgbClr>
            </a:solidFill>
            <a:prstDash val="solid"/>
          </a:ln>
          <a:effectLst>
            <a:outerShdw blurRad="177800" dist="508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187952" y="1188720"/>
            <a:ext cx="914400" cy="914400"/>
          </a:xfrm>
          <a:prstGeom prst="ellipse">
            <a:avLst/>
          </a:prstGeom>
          <a:solidFill>
            <a:srgbClr val="38BDF8">
              <a:alpha val="18000"/>
            </a:srgbClr>
          </a:solidFill>
          <a:ln w="12700">
            <a:solidFill>
              <a:srgbClr val="38BDF8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0" y="1298448"/>
            <a:ext cx="694944" cy="69494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29000" y="228600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Medication Reminders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474720" y="2880360"/>
            <a:ext cx="23317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5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reminders improve medication adherence.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217920" y="914400"/>
            <a:ext cx="2697480" cy="3931920"/>
          </a:xfrm>
          <a:prstGeom prst="roundRect">
            <a:avLst>
              <a:gd name="adj" fmla="val 4746"/>
            </a:avLst>
          </a:prstGeom>
          <a:solidFill>
            <a:srgbClr val="162644"/>
          </a:solidFill>
          <a:ln w="8890">
            <a:solidFill>
              <a:srgbClr val="F59E0B">
                <a:alpha val="60000"/>
              </a:srgbClr>
            </a:solidFill>
            <a:prstDash val="solid"/>
          </a:ln>
          <a:effectLst>
            <a:outerShdw blurRad="177800" dist="508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114032" y="1188720"/>
            <a:ext cx="914400" cy="914400"/>
          </a:xfrm>
          <a:prstGeom prst="ellipse">
            <a:avLst/>
          </a:prstGeom>
          <a:solidFill>
            <a:srgbClr val="F59E0B">
              <a:alpha val="18000"/>
            </a:srgbClr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23760" y="1298448"/>
            <a:ext cx="694944" cy="69494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55080" y="228600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Alerts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6400800" y="2880360"/>
            <a:ext cx="23317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5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caregiver notifications using Amazon SNS.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274320" y="484632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92608"/>
            <a:ext cx="109728" cy="109728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Features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2697480" cy="3931920"/>
          </a:xfrm>
          <a:prstGeom prst="roundRect">
            <a:avLst>
              <a:gd name="adj" fmla="val 4746"/>
            </a:avLst>
          </a:prstGeom>
          <a:solidFill>
            <a:srgbClr val="162644"/>
          </a:solidFill>
          <a:ln w="8890">
            <a:solidFill>
              <a:srgbClr val="38BDF8">
                <a:alpha val="60000"/>
              </a:srgbClr>
            </a:solidFill>
            <a:prstDash val="solid"/>
          </a:ln>
          <a:effectLst>
            <a:outerShdw blurRad="177800" dist="508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61872" y="1170432"/>
            <a:ext cx="914400" cy="914400"/>
          </a:xfrm>
          <a:prstGeom prst="ellipse">
            <a:avLst/>
          </a:prstGeom>
          <a:solidFill>
            <a:srgbClr val="38BDF8">
              <a:alpha val="18000"/>
            </a:srgbClr>
          </a:solidFill>
          <a:ln w="12700">
            <a:solidFill>
              <a:srgbClr val="38BDF8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1280160"/>
            <a:ext cx="694944" cy="6949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224028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Health Assistant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94360" y="2697480"/>
            <a:ext cx="2240280" cy="237744"/>
          </a:xfrm>
          <a:prstGeom prst="roundRect">
            <a:avLst>
              <a:gd name="adj" fmla="val 26923"/>
            </a:avLst>
          </a:prstGeom>
          <a:solidFill>
            <a:srgbClr val="38BDF8">
              <a:alpha val="22000"/>
            </a:srgbClr>
          </a:solidFill>
          <a:ln w="6350">
            <a:solidFill>
              <a:srgbClr val="38BDF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94360" y="2706624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Bedrock Nova Lite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530352" y="3017520"/>
            <a:ext cx="23774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5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 guidance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5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Medication questions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5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recommendations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291840" y="914400"/>
            <a:ext cx="2697480" cy="3931920"/>
          </a:xfrm>
          <a:prstGeom prst="roundRect">
            <a:avLst>
              <a:gd name="adj" fmla="val 4746"/>
            </a:avLst>
          </a:prstGeom>
          <a:solidFill>
            <a:srgbClr val="162644"/>
          </a:solidFill>
          <a:ln w="8890">
            <a:solidFill>
              <a:srgbClr val="00C9A7">
                <a:alpha val="60000"/>
              </a:srgbClr>
            </a:solidFill>
            <a:prstDash val="solid"/>
          </a:ln>
          <a:effectLst>
            <a:outerShdw blurRad="177800" dist="508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187952" y="1170432"/>
            <a:ext cx="914400" cy="914400"/>
          </a:xfrm>
          <a:prstGeom prst="ellipse">
            <a:avLst/>
          </a:prstGeom>
          <a:solidFill>
            <a:srgbClr val="00C9A7">
              <a:alpha val="18000"/>
            </a:srgbClr>
          </a:solidFill>
          <a:ln w="12700">
            <a:solidFill>
              <a:srgbClr val="00C9A7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0" y="1280160"/>
            <a:ext cx="694944" cy="69494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429000" y="224028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Caregiver Notes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3520440" y="2697480"/>
            <a:ext cx="2240280" cy="237744"/>
          </a:xfrm>
          <a:prstGeom prst="roundRect">
            <a:avLst>
              <a:gd name="adj" fmla="val 26923"/>
            </a:avLst>
          </a:prstGeom>
          <a:solidFill>
            <a:srgbClr val="00C9A7">
              <a:alpha val="22000"/>
            </a:srgbClr>
          </a:solidFill>
          <a:ln w="6350">
            <a:solidFill>
              <a:srgbClr val="00C9A7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3520440" y="2706624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Collaboration</a:t>
            </a:r>
            <a:endParaRPr lang="en-US" sz="800" dirty="0"/>
          </a:p>
        </p:txBody>
      </p:sp>
      <p:sp>
        <p:nvSpPr>
          <p:cNvPr id="17" name="Text 13"/>
          <p:cNvSpPr/>
          <p:nvPr/>
        </p:nvSpPr>
        <p:spPr>
          <a:xfrm>
            <a:off x="3456432" y="3017520"/>
            <a:ext cx="23774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5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observations across caregivers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5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Timestamped activity logs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5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access control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6217920" y="914400"/>
            <a:ext cx="2697480" cy="3931920"/>
          </a:xfrm>
          <a:prstGeom prst="roundRect">
            <a:avLst>
              <a:gd name="adj" fmla="val 4746"/>
            </a:avLst>
          </a:prstGeom>
          <a:solidFill>
            <a:srgbClr val="162644"/>
          </a:solidFill>
          <a:ln w="8890">
            <a:solidFill>
              <a:srgbClr val="22C55E">
                <a:alpha val="60000"/>
              </a:srgbClr>
            </a:solidFill>
            <a:prstDash val="solid"/>
          </a:ln>
          <a:effectLst>
            <a:outerShdw blurRad="177800" dist="508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7114032" y="1170432"/>
            <a:ext cx="914400" cy="914400"/>
          </a:xfrm>
          <a:prstGeom prst="ellipse">
            <a:avLst/>
          </a:prstGeom>
          <a:solidFill>
            <a:srgbClr val="22C55E">
              <a:alpha val="18000"/>
            </a:srgbClr>
          </a:solidFill>
          <a:ln w="12700">
            <a:solidFill>
              <a:srgbClr val="22C55E"/>
            </a:solidFill>
            <a:prstDash val="solid"/>
          </a:ln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23760" y="1280160"/>
            <a:ext cx="694944" cy="694944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355080" y="224028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Reports</a:t>
            </a:r>
            <a:endParaRPr lang="en-US" sz="1400" dirty="0"/>
          </a:p>
        </p:txBody>
      </p:sp>
      <p:sp>
        <p:nvSpPr>
          <p:cNvPr id="22" name="Shape 17"/>
          <p:cNvSpPr/>
          <p:nvPr/>
        </p:nvSpPr>
        <p:spPr>
          <a:xfrm>
            <a:off x="6446520" y="2697480"/>
            <a:ext cx="2240280" cy="237744"/>
          </a:xfrm>
          <a:prstGeom prst="roundRect">
            <a:avLst>
              <a:gd name="adj" fmla="val 26923"/>
            </a:avLst>
          </a:prstGeom>
          <a:solidFill>
            <a:srgbClr val="22C55E">
              <a:alpha val="22000"/>
            </a:srgbClr>
          </a:solidFill>
          <a:ln w="6350">
            <a:solidFill>
              <a:srgbClr val="22C55E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6446520" y="2706624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S3 Storage</a:t>
            </a:r>
            <a:endParaRPr lang="en-US" sz="800" dirty="0"/>
          </a:p>
        </p:txBody>
      </p:sp>
      <p:sp>
        <p:nvSpPr>
          <p:cNvPr id="24" name="Text 19"/>
          <p:cNvSpPr/>
          <p:nvPr/>
        </p:nvSpPr>
        <p:spPr>
          <a:xfrm>
            <a:off x="6382512" y="3017520"/>
            <a:ext cx="23774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5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health summaries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5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securely in Amazon S3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5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Accessible to authorized providers</a:t>
            </a:r>
            <a:endParaRPr lang="en-US" sz="1100" dirty="0"/>
          </a:p>
        </p:txBody>
      </p:sp>
      <p:sp>
        <p:nvSpPr>
          <p:cNvPr id="25" name="Text 20"/>
          <p:cNvSpPr/>
          <p:nvPr/>
        </p:nvSpPr>
        <p:spPr>
          <a:xfrm>
            <a:off x="274320" y="484632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92608"/>
            <a:ext cx="109728" cy="10972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User Management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822960"/>
            <a:ext cx="2788920" cy="658368"/>
          </a:xfrm>
          <a:prstGeom prst="roundRect">
            <a:avLst>
              <a:gd name="adj" fmla="val 13889"/>
            </a:avLst>
          </a:prstGeom>
          <a:solidFill>
            <a:srgbClr val="162644"/>
          </a:solidFill>
          <a:ln w="10160">
            <a:solidFill>
              <a:srgbClr val="00C9A7">
                <a:alpha val="65000"/>
              </a:srgbClr>
            </a:solidFill>
            <a:prstDash val="solid"/>
          </a:ln>
          <a:effectLst>
            <a:outerShdw blurRad="101600" dist="38100" dir="5400000" algn="bl" rotWithShape="0">
              <a:srgbClr val="000000">
                <a:alpha val="20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" y="960120"/>
            <a:ext cx="384048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05840" y="987552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Login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1760220" y="1481328"/>
            <a:ext cx="91440" cy="201168"/>
          </a:xfrm>
          <a:prstGeom prst="ellipse">
            <a:avLst/>
          </a:prstGeom>
          <a:solidFill>
            <a:srgbClr val="00C9A7">
              <a:alpha val="55000"/>
            </a:srgbClr>
          </a:solidFill>
          <a:ln w="12700">
            <a:solidFill>
              <a:srgbClr val="00C9A7">
                <a:alpha val="55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11480" y="1682496"/>
            <a:ext cx="2788920" cy="658368"/>
          </a:xfrm>
          <a:prstGeom prst="roundRect">
            <a:avLst>
              <a:gd name="adj" fmla="val 13889"/>
            </a:avLst>
          </a:prstGeom>
          <a:solidFill>
            <a:srgbClr val="162644"/>
          </a:solidFill>
          <a:ln w="10160">
            <a:solidFill>
              <a:srgbClr val="38BDF8">
                <a:alpha val="65000"/>
              </a:srgbClr>
            </a:solidFill>
            <a:prstDash val="solid"/>
          </a:ln>
          <a:effectLst>
            <a:outerShdw blurRad="101600" dist="38100" dir="5400000" algn="bl" rotWithShape="0">
              <a:srgbClr val="000000">
                <a:alpha val="20000"/>
              </a:srgbClr>
            </a:outerShdw>
          </a:effectLst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208" y="1819656"/>
            <a:ext cx="384048" cy="38404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05840" y="1847088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Cognito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1760220" y="2340864"/>
            <a:ext cx="91440" cy="201168"/>
          </a:xfrm>
          <a:prstGeom prst="ellipse">
            <a:avLst/>
          </a:prstGeom>
          <a:solidFill>
            <a:srgbClr val="38BDF8">
              <a:alpha val="55000"/>
            </a:srgbClr>
          </a:solidFill>
          <a:ln w="12700">
            <a:solidFill>
              <a:srgbClr val="38BDF8">
                <a:alpha val="55000"/>
              </a:srgbClr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411480" y="2542032"/>
            <a:ext cx="2788920" cy="658368"/>
          </a:xfrm>
          <a:prstGeom prst="roundRect">
            <a:avLst>
              <a:gd name="adj" fmla="val 13889"/>
            </a:avLst>
          </a:prstGeom>
          <a:solidFill>
            <a:srgbClr val="162644"/>
          </a:solidFill>
          <a:ln w="10160">
            <a:solidFill>
              <a:srgbClr val="22C55E">
                <a:alpha val="65000"/>
              </a:srgbClr>
            </a:solidFill>
            <a:prstDash val="solid"/>
          </a:ln>
          <a:effectLst>
            <a:outerShdw blurRad="101600" dist="38100" dir="5400000" algn="bl" rotWithShape="0">
              <a:srgbClr val="000000">
                <a:alpha val="20000"/>
              </a:srgbClr>
            </a:outerShdw>
          </a:effectLst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208" y="2679192"/>
            <a:ext cx="384048" cy="38404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05840" y="2706624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Authentication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1760220" y="3200400"/>
            <a:ext cx="91440" cy="201168"/>
          </a:xfrm>
          <a:prstGeom prst="ellipse">
            <a:avLst/>
          </a:prstGeom>
          <a:solidFill>
            <a:srgbClr val="22C55E">
              <a:alpha val="55000"/>
            </a:srgbClr>
          </a:solidFill>
          <a:ln w="12700">
            <a:solidFill>
              <a:srgbClr val="22C55E">
                <a:alpha val="55000"/>
              </a:srgbClr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411480" y="3401568"/>
            <a:ext cx="2788920" cy="658368"/>
          </a:xfrm>
          <a:prstGeom prst="roundRect">
            <a:avLst>
              <a:gd name="adj" fmla="val 13889"/>
            </a:avLst>
          </a:prstGeom>
          <a:solidFill>
            <a:srgbClr val="162644"/>
          </a:solidFill>
          <a:ln w="10160">
            <a:solidFill>
              <a:srgbClr val="F59E0B">
                <a:alpha val="65000"/>
              </a:srgbClr>
            </a:solidFill>
            <a:prstDash val="solid"/>
          </a:ln>
          <a:effectLst>
            <a:outerShdw blurRad="101600" dist="38100" dir="5400000" algn="bl" rotWithShape="0">
              <a:srgbClr val="000000">
                <a:alpha val="20000"/>
              </a:srgbClr>
            </a:outerShdw>
          </a:effectLst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1208" y="3538728"/>
            <a:ext cx="384048" cy="38404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005840" y="3566160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Service</a:t>
            </a:r>
            <a:endParaRPr lang="en-US" sz="1300" dirty="0"/>
          </a:p>
        </p:txBody>
      </p:sp>
      <p:sp>
        <p:nvSpPr>
          <p:cNvPr id="19" name="Shape 13"/>
          <p:cNvSpPr/>
          <p:nvPr/>
        </p:nvSpPr>
        <p:spPr>
          <a:xfrm>
            <a:off x="1760220" y="4059936"/>
            <a:ext cx="91440" cy="201168"/>
          </a:xfrm>
          <a:prstGeom prst="ellipse">
            <a:avLst/>
          </a:prstGeom>
          <a:solidFill>
            <a:srgbClr val="F59E0B">
              <a:alpha val="55000"/>
            </a:srgbClr>
          </a:solidFill>
          <a:ln w="12700">
            <a:solidFill>
              <a:srgbClr val="F59E0B">
                <a:alpha val="55000"/>
              </a:srgbClr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411480" y="4261104"/>
            <a:ext cx="2788920" cy="658368"/>
          </a:xfrm>
          <a:prstGeom prst="roundRect">
            <a:avLst>
              <a:gd name="adj" fmla="val 13889"/>
            </a:avLst>
          </a:prstGeom>
          <a:solidFill>
            <a:srgbClr val="162644"/>
          </a:solidFill>
          <a:ln w="10160">
            <a:solidFill>
              <a:srgbClr val="00C9A7">
                <a:alpha val="65000"/>
              </a:srgbClr>
            </a:solidFill>
            <a:prstDash val="solid"/>
          </a:ln>
          <a:effectLst>
            <a:outerShdw blurRad="101600" dist="38100" dir="5400000" algn="bl" rotWithShape="0">
              <a:srgbClr val="000000">
                <a:alpha val="20000"/>
              </a:srgbClr>
            </a:outerShdw>
          </a:effectLst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1208" y="4398264"/>
            <a:ext cx="384048" cy="384048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005840" y="4425696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Services</a:t>
            </a:r>
            <a:endParaRPr lang="en-US" sz="1300" dirty="0"/>
          </a:p>
        </p:txBody>
      </p:sp>
      <p:sp>
        <p:nvSpPr>
          <p:cNvPr id="23" name="Shape 16"/>
          <p:cNvSpPr/>
          <p:nvPr/>
        </p:nvSpPr>
        <p:spPr>
          <a:xfrm>
            <a:off x="3520440" y="822960"/>
            <a:ext cx="5257800" cy="804672"/>
          </a:xfrm>
          <a:prstGeom prst="roundRect">
            <a:avLst>
              <a:gd name="adj" fmla="val 11364"/>
            </a:avLst>
          </a:prstGeom>
          <a:solidFill>
            <a:srgbClr val="162644"/>
          </a:solidFill>
          <a:ln w="6350">
            <a:solidFill>
              <a:srgbClr val="00C9A7">
                <a:alpha val="50000"/>
              </a:srgbClr>
            </a:solidFill>
            <a:prstDash val="solid"/>
          </a:ln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57600" y="1005840"/>
            <a:ext cx="420624" cy="420624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4206240" y="91440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</a:t>
            </a:r>
            <a:endParaRPr lang="en-US" sz="1300" dirty="0"/>
          </a:p>
        </p:txBody>
      </p:sp>
      <p:sp>
        <p:nvSpPr>
          <p:cNvPr id="26" name="Text 18"/>
          <p:cNvSpPr/>
          <p:nvPr/>
        </p:nvSpPr>
        <p:spPr>
          <a:xfrm>
            <a:off x="4206240" y="1243584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5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Elder, Caregiver, Provider, Admin roles</a:t>
            </a:r>
            <a:endParaRPr lang="en-US" sz="1100" dirty="0"/>
          </a:p>
        </p:txBody>
      </p:sp>
      <p:sp>
        <p:nvSpPr>
          <p:cNvPr id="27" name="Shape 19"/>
          <p:cNvSpPr/>
          <p:nvPr/>
        </p:nvSpPr>
        <p:spPr>
          <a:xfrm>
            <a:off x="3520440" y="1847088"/>
            <a:ext cx="5257800" cy="804672"/>
          </a:xfrm>
          <a:prstGeom prst="roundRect">
            <a:avLst>
              <a:gd name="adj" fmla="val 11364"/>
            </a:avLst>
          </a:prstGeom>
          <a:solidFill>
            <a:srgbClr val="162644"/>
          </a:solidFill>
          <a:ln w="6350">
            <a:solidFill>
              <a:srgbClr val="38BDF8">
                <a:alpha val="50000"/>
              </a:srgbClr>
            </a:solidFill>
            <a:prstDash val="solid"/>
          </a:ln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57600" y="2029968"/>
            <a:ext cx="420624" cy="420624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4206240" y="1938528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Authorization</a:t>
            </a:r>
            <a:endParaRPr lang="en-US" sz="1300" dirty="0"/>
          </a:p>
        </p:txBody>
      </p:sp>
      <p:sp>
        <p:nvSpPr>
          <p:cNvPr id="30" name="Text 21"/>
          <p:cNvSpPr/>
          <p:nvPr/>
        </p:nvSpPr>
        <p:spPr>
          <a:xfrm>
            <a:off x="4206240" y="226771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5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token-based session management</a:t>
            </a:r>
            <a:endParaRPr lang="en-US" sz="1100" dirty="0"/>
          </a:p>
        </p:txBody>
      </p:sp>
      <p:sp>
        <p:nvSpPr>
          <p:cNvPr id="31" name="Shape 22"/>
          <p:cNvSpPr/>
          <p:nvPr/>
        </p:nvSpPr>
        <p:spPr>
          <a:xfrm>
            <a:off x="3520440" y="2871216"/>
            <a:ext cx="5257800" cy="804672"/>
          </a:xfrm>
          <a:prstGeom prst="roundRect">
            <a:avLst>
              <a:gd name="adj" fmla="val 11364"/>
            </a:avLst>
          </a:prstGeom>
          <a:solidFill>
            <a:srgbClr val="162644"/>
          </a:solidFill>
          <a:ln w="6350">
            <a:solidFill>
              <a:srgbClr val="F59E0B">
                <a:alpha val="50000"/>
              </a:srgbClr>
            </a:solidFill>
            <a:prstDash val="solid"/>
          </a:ln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0" y="3054096"/>
            <a:ext cx="420624" cy="420624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4206240" y="2962656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Manager</a:t>
            </a:r>
            <a:endParaRPr lang="en-US" sz="1300" dirty="0"/>
          </a:p>
        </p:txBody>
      </p:sp>
      <p:sp>
        <p:nvSpPr>
          <p:cNvPr id="34" name="Text 24"/>
          <p:cNvSpPr/>
          <p:nvPr/>
        </p:nvSpPr>
        <p:spPr>
          <a:xfrm>
            <a:off x="4206240" y="329184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5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hardcoded credentials in any service</a:t>
            </a:r>
            <a:endParaRPr lang="en-US" sz="1100" dirty="0"/>
          </a:p>
        </p:txBody>
      </p:sp>
      <p:sp>
        <p:nvSpPr>
          <p:cNvPr id="35" name="Shape 25"/>
          <p:cNvSpPr/>
          <p:nvPr/>
        </p:nvSpPr>
        <p:spPr>
          <a:xfrm>
            <a:off x="3520440" y="3895344"/>
            <a:ext cx="5257800" cy="804672"/>
          </a:xfrm>
          <a:prstGeom prst="roundRect">
            <a:avLst>
              <a:gd name="adj" fmla="val 11364"/>
            </a:avLst>
          </a:prstGeom>
          <a:solidFill>
            <a:srgbClr val="162644"/>
          </a:solidFill>
          <a:ln w="6350">
            <a:solidFill>
              <a:srgbClr val="22C55E">
                <a:alpha val="50000"/>
              </a:srgbClr>
            </a:solidFill>
            <a:prstDash val="solid"/>
          </a:ln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57600" y="4078224"/>
            <a:ext cx="420624" cy="420624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4206240" y="3986784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Authentication</a:t>
            </a:r>
            <a:endParaRPr lang="en-US" sz="1300" dirty="0"/>
          </a:p>
        </p:txBody>
      </p:sp>
      <p:sp>
        <p:nvSpPr>
          <p:cNvPr id="38" name="Text 27"/>
          <p:cNvSpPr/>
          <p:nvPr/>
        </p:nvSpPr>
        <p:spPr>
          <a:xfrm>
            <a:off x="4206240" y="431596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5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Multi-factor auth via Amazon Cognito</a:t>
            </a:r>
            <a:endParaRPr lang="en-US" sz="1100" dirty="0"/>
          </a:p>
        </p:txBody>
      </p:sp>
      <p:sp>
        <p:nvSpPr>
          <p:cNvPr id="39" name="Text 28"/>
          <p:cNvSpPr/>
          <p:nvPr/>
        </p:nvSpPr>
        <p:spPr>
          <a:xfrm>
            <a:off x="274320" y="484632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3D77CCF-9F86-F664-0321-FBA8CA8EBA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375" y="0"/>
            <a:ext cx="771525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18130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92608"/>
            <a:ext cx="109728" cy="109728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Highlights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3977640" cy="1078992"/>
          </a:xfrm>
          <a:prstGeom prst="roundRect">
            <a:avLst>
              <a:gd name="adj" fmla="val 9322"/>
            </a:avLst>
          </a:prstGeom>
          <a:solidFill>
            <a:srgbClr val="162644"/>
          </a:solidFill>
          <a:ln w="7620">
            <a:solidFill>
              <a:srgbClr val="00C9A7">
                <a:alpha val="55000"/>
              </a:srgbClr>
            </a:solidFill>
            <a:prstDash val="solid"/>
          </a:ln>
          <a:effectLst>
            <a:outerShdw blurRad="114300" dist="38100" dir="5400000" algn="bl" rotWithShape="0">
              <a:srgbClr val="000000">
                <a:alpha val="20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124712"/>
            <a:ext cx="475488" cy="4754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3000" y="1033272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EKS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143000" y="1399032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5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1.31 · 12 microservices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663440" y="868680"/>
            <a:ext cx="3977640" cy="1078992"/>
          </a:xfrm>
          <a:prstGeom prst="roundRect">
            <a:avLst>
              <a:gd name="adj" fmla="val 9322"/>
            </a:avLst>
          </a:prstGeom>
          <a:solidFill>
            <a:srgbClr val="162644"/>
          </a:solidFill>
          <a:ln w="7620">
            <a:solidFill>
              <a:srgbClr val="38BDF8">
                <a:alpha val="55000"/>
              </a:srgbClr>
            </a:solidFill>
            <a:prstDash val="solid"/>
          </a:ln>
          <a:effectLst>
            <a:outerShdw blurRad="114300" dist="38100" dir="5400000" algn="bl" rotWithShape="0">
              <a:srgbClr val="000000">
                <a:alpha val="20000"/>
              </a:srgbClr>
            </a:outerShdw>
          </a:effectLst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8032" y="1124712"/>
            <a:ext cx="475488" cy="47548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440680" y="1033272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ArgoCD GitOps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5440680" y="1399032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5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deployment, no manual kubectl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365760" y="2093976"/>
            <a:ext cx="3977640" cy="1078992"/>
          </a:xfrm>
          <a:prstGeom prst="roundRect">
            <a:avLst>
              <a:gd name="adj" fmla="val 9322"/>
            </a:avLst>
          </a:prstGeom>
          <a:solidFill>
            <a:srgbClr val="162644"/>
          </a:solidFill>
          <a:ln w="7620">
            <a:solidFill>
              <a:srgbClr val="F59E0B">
                <a:alpha val="55000"/>
              </a:srgbClr>
            </a:solidFill>
            <a:prstDash val="solid"/>
          </a:ln>
          <a:effectLst>
            <a:outerShdw blurRad="114300" dist="38100" dir="5400000" algn="bl" rotWithShape="0">
              <a:srgbClr val="000000">
                <a:alpha val="20000"/>
              </a:srgbClr>
            </a:outerShdw>
          </a:effectLst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352" y="2350008"/>
            <a:ext cx="475488" cy="47548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43000" y="2258568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Secrets (ESO)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1143000" y="2624328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5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auto-synced from Secrets Manager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4663440" y="2093976"/>
            <a:ext cx="3977640" cy="1078992"/>
          </a:xfrm>
          <a:prstGeom prst="roundRect">
            <a:avLst>
              <a:gd name="adj" fmla="val 9322"/>
            </a:avLst>
          </a:prstGeom>
          <a:solidFill>
            <a:srgbClr val="162644"/>
          </a:solidFill>
          <a:ln w="7620">
            <a:solidFill>
              <a:srgbClr val="22C55E">
                <a:alpha val="55000"/>
              </a:srgbClr>
            </a:solidFill>
            <a:prstDash val="solid"/>
          </a:ln>
          <a:effectLst>
            <a:outerShdw blurRad="114300" dist="38100" dir="5400000" algn="bl" rotWithShape="0">
              <a:srgbClr val="000000">
                <a:alpha val="20000"/>
              </a:srgbClr>
            </a:outerShdw>
          </a:effectLst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28032" y="2350008"/>
            <a:ext cx="475488" cy="47548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440680" y="2258568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RDS PostgreSQL Multi-AZ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5440680" y="2624328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5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availability with standby replica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365760" y="3319272"/>
            <a:ext cx="3977640" cy="1078992"/>
          </a:xfrm>
          <a:prstGeom prst="roundRect">
            <a:avLst>
              <a:gd name="adj" fmla="val 9322"/>
            </a:avLst>
          </a:prstGeom>
          <a:solidFill>
            <a:srgbClr val="162644"/>
          </a:solidFill>
          <a:ln w="7620">
            <a:solidFill>
              <a:srgbClr val="38BDF8">
                <a:alpha val="55000"/>
              </a:srgbClr>
            </a:solidFill>
            <a:prstDash val="solid"/>
          </a:ln>
          <a:effectLst>
            <a:outerShdw blurRad="114300" dist="38100" dir="5400000" algn="bl" rotWithShape="0">
              <a:srgbClr val="000000">
                <a:alpha val="20000"/>
              </a:srgbClr>
            </a:outerShdw>
          </a:effectLst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0352" y="3575304"/>
            <a:ext cx="475488" cy="475488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143000" y="3483864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CloudFront + S3</a:t>
            </a:r>
            <a:endParaRPr lang="en-US" sz="1300" dirty="0"/>
          </a:p>
        </p:txBody>
      </p:sp>
      <p:sp>
        <p:nvSpPr>
          <p:cNvPr id="23" name="Text 16"/>
          <p:cNvSpPr/>
          <p:nvPr/>
        </p:nvSpPr>
        <p:spPr>
          <a:xfrm>
            <a:off x="1143000" y="3849624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5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CDN serving the React frontend</a:t>
            </a:r>
            <a:endParaRPr lang="en-US" sz="1100" dirty="0"/>
          </a:p>
        </p:txBody>
      </p:sp>
      <p:sp>
        <p:nvSpPr>
          <p:cNvPr id="24" name="Shape 17"/>
          <p:cNvSpPr/>
          <p:nvPr/>
        </p:nvSpPr>
        <p:spPr>
          <a:xfrm>
            <a:off x="4663440" y="3319272"/>
            <a:ext cx="3977640" cy="1078992"/>
          </a:xfrm>
          <a:prstGeom prst="roundRect">
            <a:avLst>
              <a:gd name="adj" fmla="val 9322"/>
            </a:avLst>
          </a:prstGeom>
          <a:solidFill>
            <a:srgbClr val="162644"/>
          </a:solidFill>
          <a:ln w="7620">
            <a:solidFill>
              <a:srgbClr val="00C9A7">
                <a:alpha val="55000"/>
              </a:srgbClr>
            </a:solidFill>
            <a:prstDash val="solid"/>
          </a:ln>
          <a:effectLst>
            <a:outerShdw blurRad="114300" dist="38100" dir="5400000" algn="bl" rotWithShape="0">
              <a:srgbClr val="000000">
                <a:alpha val="20000"/>
              </a:srgbClr>
            </a:outerShdw>
          </a:effectLst>
        </p:spPr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28032" y="3575304"/>
            <a:ext cx="475488" cy="475488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5440680" y="3483864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WAF + ALB</a:t>
            </a:r>
            <a:endParaRPr lang="en-US" sz="1300" dirty="0"/>
          </a:p>
        </p:txBody>
      </p:sp>
      <p:sp>
        <p:nvSpPr>
          <p:cNvPr id="27" name="Text 19"/>
          <p:cNvSpPr/>
          <p:nvPr/>
        </p:nvSpPr>
        <p:spPr>
          <a:xfrm>
            <a:off x="5440680" y="3849624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5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API entry point before EKS cluster</a:t>
            </a:r>
            <a:endParaRPr lang="en-US" sz="1100" dirty="0"/>
          </a:p>
        </p:txBody>
      </p:sp>
      <p:sp>
        <p:nvSpPr>
          <p:cNvPr id="28" name="Text 20"/>
          <p:cNvSpPr/>
          <p:nvPr/>
        </p:nvSpPr>
        <p:spPr>
          <a:xfrm>
            <a:off x="274320" y="484632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92608"/>
            <a:ext cx="109728" cy="10972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Flow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56032" y="914400"/>
            <a:ext cx="1115568" cy="713232"/>
          </a:xfrm>
          <a:prstGeom prst="roundRect">
            <a:avLst>
              <a:gd name="adj" fmla="val 12821"/>
            </a:avLst>
          </a:prstGeom>
          <a:solidFill>
            <a:srgbClr val="162644"/>
          </a:solidFill>
          <a:ln w="8890">
            <a:solidFill>
              <a:srgbClr val="00C9A7">
                <a:alpha val="60000"/>
              </a:srgbClr>
            </a:solidFill>
            <a:prstDash val="solid"/>
          </a:ln>
          <a:effectLst>
            <a:outerShdw blurRad="101600" dist="38100" dir="54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15568" y="868680"/>
            <a:ext cx="237744" cy="237744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15568" y="877824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987552"/>
            <a:ext cx="420624" cy="42062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56032" y="1719072"/>
            <a:ext cx="1115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256032" y="2029968"/>
            <a:ext cx="1115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A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/ Mobile App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1380744" y="1207008"/>
            <a:ext cx="109728" cy="128016"/>
          </a:xfrm>
          <a:prstGeom prst="ellipse">
            <a:avLst/>
          </a:prstGeom>
          <a:solidFill>
            <a:srgbClr val="00C9A7">
              <a:alpha val="50000"/>
            </a:srgbClr>
          </a:solidFill>
          <a:ln w="12700">
            <a:solidFill>
              <a:srgbClr val="00C9A7">
                <a:alpha val="50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481328" y="914400"/>
            <a:ext cx="1115568" cy="713232"/>
          </a:xfrm>
          <a:prstGeom prst="roundRect">
            <a:avLst>
              <a:gd name="adj" fmla="val 12821"/>
            </a:avLst>
          </a:prstGeom>
          <a:solidFill>
            <a:srgbClr val="162644"/>
          </a:solidFill>
          <a:ln w="8890">
            <a:solidFill>
              <a:srgbClr val="38BDF8">
                <a:alpha val="60000"/>
              </a:srgbClr>
            </a:solidFill>
            <a:prstDash val="solid"/>
          </a:ln>
          <a:effectLst>
            <a:outerShdw blurRad="101600" dist="38100" dir="54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340864" y="868680"/>
            <a:ext cx="237744" cy="237744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340864" y="877824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19656" y="987552"/>
            <a:ext cx="420624" cy="42062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481328" y="1719072"/>
            <a:ext cx="1115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Route53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1481328" y="2029968"/>
            <a:ext cx="1115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A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Resolution</a:t>
            </a:r>
            <a:endParaRPr lang="en-US" sz="800" dirty="0"/>
          </a:p>
        </p:txBody>
      </p:sp>
      <p:sp>
        <p:nvSpPr>
          <p:cNvPr id="17" name="Shape 13"/>
          <p:cNvSpPr/>
          <p:nvPr/>
        </p:nvSpPr>
        <p:spPr>
          <a:xfrm>
            <a:off x="2606040" y="1207008"/>
            <a:ext cx="109728" cy="128016"/>
          </a:xfrm>
          <a:prstGeom prst="ellipse">
            <a:avLst/>
          </a:prstGeom>
          <a:solidFill>
            <a:srgbClr val="38BDF8">
              <a:alpha val="50000"/>
            </a:srgbClr>
          </a:solidFill>
          <a:ln w="12700">
            <a:solidFill>
              <a:srgbClr val="38BDF8">
                <a:alpha val="50000"/>
              </a:srgbClr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2706624" y="914400"/>
            <a:ext cx="1115568" cy="713232"/>
          </a:xfrm>
          <a:prstGeom prst="roundRect">
            <a:avLst>
              <a:gd name="adj" fmla="val 12821"/>
            </a:avLst>
          </a:prstGeom>
          <a:solidFill>
            <a:srgbClr val="162644"/>
          </a:solidFill>
          <a:ln w="8890">
            <a:solidFill>
              <a:srgbClr val="38BDF8">
                <a:alpha val="60000"/>
              </a:srgbClr>
            </a:solidFill>
            <a:prstDash val="solid"/>
          </a:ln>
          <a:effectLst>
            <a:outerShdw blurRad="101600" dist="38100" dir="54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3566160" y="868680"/>
            <a:ext cx="237744" cy="237744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3566160" y="877824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4952" y="987552"/>
            <a:ext cx="420624" cy="420624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2706624" y="1719072"/>
            <a:ext cx="1115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CloudFront / ALB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2706624" y="2029968"/>
            <a:ext cx="1115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A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+ Load Balancer</a:t>
            </a:r>
            <a:endParaRPr lang="en-US" sz="800" dirty="0"/>
          </a:p>
        </p:txBody>
      </p:sp>
      <p:sp>
        <p:nvSpPr>
          <p:cNvPr id="24" name="Shape 19"/>
          <p:cNvSpPr/>
          <p:nvPr/>
        </p:nvSpPr>
        <p:spPr>
          <a:xfrm>
            <a:off x="3831336" y="1207008"/>
            <a:ext cx="109728" cy="128016"/>
          </a:xfrm>
          <a:prstGeom prst="ellipse">
            <a:avLst/>
          </a:prstGeom>
          <a:solidFill>
            <a:srgbClr val="38BDF8">
              <a:alpha val="50000"/>
            </a:srgbClr>
          </a:solidFill>
          <a:ln w="12700">
            <a:solidFill>
              <a:srgbClr val="38BDF8">
                <a:alpha val="50000"/>
              </a:srgbClr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3931920" y="914400"/>
            <a:ext cx="1115568" cy="713232"/>
          </a:xfrm>
          <a:prstGeom prst="roundRect">
            <a:avLst>
              <a:gd name="adj" fmla="val 12821"/>
            </a:avLst>
          </a:prstGeom>
          <a:solidFill>
            <a:srgbClr val="162644"/>
          </a:solidFill>
          <a:ln w="8890">
            <a:solidFill>
              <a:srgbClr val="00C9A7">
                <a:alpha val="60000"/>
              </a:srgbClr>
            </a:solidFill>
            <a:prstDash val="solid"/>
          </a:ln>
          <a:effectLst>
            <a:outerShdw blurRad="101600" dist="38100" dir="54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4791456" y="868680"/>
            <a:ext cx="237744" cy="237744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4791456" y="877824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70248" y="987552"/>
            <a:ext cx="420624" cy="420624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3931920" y="1719072"/>
            <a:ext cx="1115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 Ingress</a:t>
            </a:r>
            <a:endParaRPr lang="en-US" sz="1000" dirty="0"/>
          </a:p>
        </p:txBody>
      </p:sp>
      <p:sp>
        <p:nvSpPr>
          <p:cNvPr id="30" name="Text 24"/>
          <p:cNvSpPr/>
          <p:nvPr/>
        </p:nvSpPr>
        <p:spPr>
          <a:xfrm>
            <a:off x="3931920" y="2029968"/>
            <a:ext cx="1115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A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to Services</a:t>
            </a:r>
            <a:endParaRPr lang="en-US" sz="800" dirty="0"/>
          </a:p>
        </p:txBody>
      </p:sp>
      <p:sp>
        <p:nvSpPr>
          <p:cNvPr id="31" name="Shape 25"/>
          <p:cNvSpPr/>
          <p:nvPr/>
        </p:nvSpPr>
        <p:spPr>
          <a:xfrm>
            <a:off x="5056632" y="1207008"/>
            <a:ext cx="109728" cy="128016"/>
          </a:xfrm>
          <a:prstGeom prst="ellipse">
            <a:avLst/>
          </a:prstGeom>
          <a:solidFill>
            <a:srgbClr val="00C9A7">
              <a:alpha val="50000"/>
            </a:srgbClr>
          </a:solidFill>
          <a:ln w="12700">
            <a:solidFill>
              <a:srgbClr val="00C9A7">
                <a:alpha val="50000"/>
              </a:srgbClr>
            </a:solidFill>
            <a:prstDash val="solid"/>
          </a:ln>
        </p:spPr>
      </p:sp>
      <p:sp>
        <p:nvSpPr>
          <p:cNvPr id="32" name="Shape 26"/>
          <p:cNvSpPr/>
          <p:nvPr/>
        </p:nvSpPr>
        <p:spPr>
          <a:xfrm>
            <a:off x="5157216" y="914400"/>
            <a:ext cx="1115568" cy="713232"/>
          </a:xfrm>
          <a:prstGeom prst="roundRect">
            <a:avLst>
              <a:gd name="adj" fmla="val 12821"/>
            </a:avLst>
          </a:prstGeom>
          <a:solidFill>
            <a:srgbClr val="162644"/>
          </a:solidFill>
          <a:ln w="8890">
            <a:solidFill>
              <a:srgbClr val="22C55E">
                <a:alpha val="60000"/>
              </a:srgbClr>
            </a:solidFill>
            <a:prstDash val="solid"/>
          </a:ln>
          <a:effectLst>
            <a:outerShdw blurRad="101600" dist="38100" dir="54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6016752" y="868680"/>
            <a:ext cx="237744" cy="237744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4" name="Text 28"/>
          <p:cNvSpPr/>
          <p:nvPr/>
        </p:nvSpPr>
        <p:spPr>
          <a:xfrm>
            <a:off x="6016752" y="877824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pic>
        <p:nvPicPr>
          <p:cNvPr id="3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95544" y="987552"/>
            <a:ext cx="420624" cy="420624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5157216" y="1719072"/>
            <a:ext cx="1115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</a:t>
            </a:r>
            <a:endParaRPr lang="en-US" sz="1000" dirty="0"/>
          </a:p>
        </p:txBody>
      </p:sp>
      <p:sp>
        <p:nvSpPr>
          <p:cNvPr id="37" name="Text 30"/>
          <p:cNvSpPr/>
          <p:nvPr/>
        </p:nvSpPr>
        <p:spPr>
          <a:xfrm>
            <a:off x="5157216" y="2029968"/>
            <a:ext cx="1115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A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</a:t>
            </a:r>
            <a:endParaRPr lang="en-US" sz="800" dirty="0"/>
          </a:p>
        </p:txBody>
      </p:sp>
      <p:sp>
        <p:nvSpPr>
          <p:cNvPr id="38" name="Shape 31"/>
          <p:cNvSpPr/>
          <p:nvPr/>
        </p:nvSpPr>
        <p:spPr>
          <a:xfrm>
            <a:off x="6281928" y="1207008"/>
            <a:ext cx="109728" cy="128016"/>
          </a:xfrm>
          <a:prstGeom prst="ellipse">
            <a:avLst/>
          </a:prstGeom>
          <a:solidFill>
            <a:srgbClr val="22C55E">
              <a:alpha val="50000"/>
            </a:srgbClr>
          </a:solidFill>
          <a:ln w="12700">
            <a:solidFill>
              <a:srgbClr val="22C55E">
                <a:alpha val="50000"/>
              </a:srgbClr>
            </a:solidFill>
            <a:prstDash val="solid"/>
          </a:ln>
        </p:spPr>
      </p:sp>
      <p:sp>
        <p:nvSpPr>
          <p:cNvPr id="39" name="Shape 32"/>
          <p:cNvSpPr/>
          <p:nvPr/>
        </p:nvSpPr>
        <p:spPr>
          <a:xfrm>
            <a:off x="6382512" y="914400"/>
            <a:ext cx="1115568" cy="713232"/>
          </a:xfrm>
          <a:prstGeom prst="roundRect">
            <a:avLst>
              <a:gd name="adj" fmla="val 12821"/>
            </a:avLst>
          </a:prstGeom>
          <a:solidFill>
            <a:srgbClr val="162644"/>
          </a:solidFill>
          <a:ln w="8890">
            <a:solidFill>
              <a:srgbClr val="F59E0B">
                <a:alpha val="60000"/>
              </a:srgbClr>
            </a:solidFill>
            <a:prstDash val="solid"/>
          </a:ln>
          <a:effectLst>
            <a:outerShdw blurRad="101600" dist="38100" dir="5400000" algn="bl" rotWithShape="0">
              <a:srgbClr val="000000">
                <a:alpha val="20000"/>
              </a:srgbClr>
            </a:outerShdw>
          </a:effectLst>
        </p:spPr>
      </p:sp>
      <p:sp>
        <p:nvSpPr>
          <p:cNvPr id="40" name="Shape 33"/>
          <p:cNvSpPr/>
          <p:nvPr/>
        </p:nvSpPr>
        <p:spPr>
          <a:xfrm>
            <a:off x="7242048" y="868680"/>
            <a:ext cx="237744" cy="23774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1" name="Text 34"/>
          <p:cNvSpPr/>
          <p:nvPr/>
        </p:nvSpPr>
        <p:spPr>
          <a:xfrm>
            <a:off x="7242048" y="877824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pic>
        <p:nvPicPr>
          <p:cNvPr id="4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20840" y="987552"/>
            <a:ext cx="420624" cy="420624"/>
          </a:xfrm>
          <a:prstGeom prst="rect">
            <a:avLst/>
          </a:prstGeom>
        </p:spPr>
      </p:pic>
      <p:sp>
        <p:nvSpPr>
          <p:cNvPr id="43" name="Text 35"/>
          <p:cNvSpPr/>
          <p:nvPr/>
        </p:nvSpPr>
        <p:spPr>
          <a:xfrm>
            <a:off x="6382512" y="1719072"/>
            <a:ext cx="1115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RDS / AWS Services</a:t>
            </a:r>
            <a:endParaRPr lang="en-US" sz="1000" dirty="0"/>
          </a:p>
        </p:txBody>
      </p:sp>
      <p:sp>
        <p:nvSpPr>
          <p:cNvPr id="44" name="Text 36"/>
          <p:cNvSpPr/>
          <p:nvPr/>
        </p:nvSpPr>
        <p:spPr>
          <a:xfrm>
            <a:off x="6382512" y="2029968"/>
            <a:ext cx="1115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A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Integrations</a:t>
            </a:r>
            <a:endParaRPr lang="en-US" sz="800" dirty="0"/>
          </a:p>
        </p:txBody>
      </p:sp>
      <p:sp>
        <p:nvSpPr>
          <p:cNvPr id="45" name="Shape 37"/>
          <p:cNvSpPr/>
          <p:nvPr/>
        </p:nvSpPr>
        <p:spPr>
          <a:xfrm>
            <a:off x="7507224" y="1207008"/>
            <a:ext cx="109728" cy="128016"/>
          </a:xfrm>
          <a:prstGeom prst="ellipse">
            <a:avLst/>
          </a:prstGeom>
          <a:solidFill>
            <a:srgbClr val="F59E0B">
              <a:alpha val="50000"/>
            </a:srgbClr>
          </a:solidFill>
          <a:ln w="12700">
            <a:solidFill>
              <a:srgbClr val="F59E0B">
                <a:alpha val="50000"/>
              </a:srgbClr>
            </a:solidFill>
            <a:prstDash val="solid"/>
          </a:ln>
        </p:spPr>
      </p:sp>
      <p:sp>
        <p:nvSpPr>
          <p:cNvPr id="46" name="Shape 38"/>
          <p:cNvSpPr/>
          <p:nvPr/>
        </p:nvSpPr>
        <p:spPr>
          <a:xfrm>
            <a:off x="7607808" y="914400"/>
            <a:ext cx="1115568" cy="713232"/>
          </a:xfrm>
          <a:prstGeom prst="roundRect">
            <a:avLst>
              <a:gd name="adj" fmla="val 12821"/>
            </a:avLst>
          </a:prstGeom>
          <a:solidFill>
            <a:srgbClr val="162644"/>
          </a:solidFill>
          <a:ln w="8890">
            <a:solidFill>
              <a:srgbClr val="22C55E">
                <a:alpha val="60000"/>
              </a:srgbClr>
            </a:solidFill>
            <a:prstDash val="solid"/>
          </a:ln>
          <a:effectLst>
            <a:outerShdw blurRad="101600" dist="38100" dir="5400000" algn="bl" rotWithShape="0">
              <a:srgbClr val="000000">
                <a:alpha val="20000"/>
              </a:srgbClr>
            </a:outerShdw>
          </a:effectLst>
        </p:spPr>
      </p:sp>
      <p:sp>
        <p:nvSpPr>
          <p:cNvPr id="47" name="Shape 39"/>
          <p:cNvSpPr/>
          <p:nvPr/>
        </p:nvSpPr>
        <p:spPr>
          <a:xfrm>
            <a:off x="8467344" y="868680"/>
            <a:ext cx="237744" cy="237744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8" name="Text 40"/>
          <p:cNvSpPr/>
          <p:nvPr/>
        </p:nvSpPr>
        <p:spPr>
          <a:xfrm>
            <a:off x="8467344" y="877824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pic>
        <p:nvPicPr>
          <p:cNvPr id="49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46136" y="987552"/>
            <a:ext cx="420624" cy="420624"/>
          </a:xfrm>
          <a:prstGeom prst="rect">
            <a:avLst/>
          </a:prstGeom>
        </p:spPr>
      </p:pic>
      <p:sp>
        <p:nvSpPr>
          <p:cNvPr id="50" name="Text 41"/>
          <p:cNvSpPr/>
          <p:nvPr/>
        </p:nvSpPr>
        <p:spPr>
          <a:xfrm>
            <a:off x="7607808" y="1719072"/>
            <a:ext cx="1115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1000" dirty="0"/>
          </a:p>
        </p:txBody>
      </p:sp>
      <p:sp>
        <p:nvSpPr>
          <p:cNvPr id="51" name="Text 42"/>
          <p:cNvSpPr/>
          <p:nvPr/>
        </p:nvSpPr>
        <p:spPr>
          <a:xfrm>
            <a:off x="7607808" y="2029968"/>
            <a:ext cx="1115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A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to User</a:t>
            </a:r>
            <a:endParaRPr lang="en-US" sz="800" dirty="0"/>
          </a:p>
        </p:txBody>
      </p:sp>
      <p:sp>
        <p:nvSpPr>
          <p:cNvPr id="52" name="Shape 43"/>
          <p:cNvSpPr/>
          <p:nvPr/>
        </p:nvSpPr>
        <p:spPr>
          <a:xfrm>
            <a:off x="365760" y="2468880"/>
            <a:ext cx="8412480" cy="2377440"/>
          </a:xfrm>
          <a:prstGeom prst="roundRect">
            <a:avLst>
              <a:gd name="adj" fmla="val 4615"/>
            </a:avLst>
          </a:prstGeom>
          <a:solidFill>
            <a:srgbClr val="162644"/>
          </a:solidFill>
          <a:ln w="6350">
            <a:solidFill>
              <a:srgbClr val="00C9A7">
                <a:alpha val="45000"/>
              </a:srgbClr>
            </a:solidFill>
            <a:prstDash val="solid"/>
          </a:ln>
        </p:spPr>
      </p:sp>
      <p:sp>
        <p:nvSpPr>
          <p:cNvPr id="53" name="Text 44"/>
          <p:cNvSpPr/>
          <p:nvPr/>
        </p:nvSpPr>
        <p:spPr>
          <a:xfrm>
            <a:off x="594360" y="2578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Request Lifecycle</a:t>
            </a:r>
            <a:endParaRPr lang="en-US" sz="1200" dirty="0"/>
          </a:p>
        </p:txBody>
      </p:sp>
      <p:sp>
        <p:nvSpPr>
          <p:cNvPr id="54" name="Text 45"/>
          <p:cNvSpPr/>
          <p:nvPr/>
        </p:nvSpPr>
        <p:spPr>
          <a:xfrm>
            <a:off x="594360" y="2880360"/>
            <a:ext cx="80924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C5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traffic enters through Route53 → CloudFront CDN or Application Load Balancer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C5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WAF inspects and filters malicious requests before reaching the EKS cluster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C5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 Ingress Controller routes requests to the correct microservice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C5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read/write from RDS PostgreSQL and interact with SNS, SES, SQS, Bedrock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C5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Responses flow back through the same path with full observability via CloudWatch</a:t>
            </a:r>
            <a:endParaRPr lang="en-US" sz="1100" dirty="0"/>
          </a:p>
        </p:txBody>
      </p:sp>
      <p:sp>
        <p:nvSpPr>
          <p:cNvPr id="55" name="Text 46"/>
          <p:cNvSpPr/>
          <p:nvPr/>
        </p:nvSpPr>
        <p:spPr>
          <a:xfrm>
            <a:off x="274320" y="484632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92608"/>
            <a:ext cx="109728" cy="109728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Services Powering ElderPing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2560320" cy="1783080"/>
          </a:xfrm>
          <a:prstGeom prst="roundRect">
            <a:avLst>
              <a:gd name="adj" fmla="val 6154"/>
            </a:avLst>
          </a:prstGeom>
          <a:solidFill>
            <a:srgbClr val="162644"/>
          </a:solidFill>
          <a:ln w="8890">
            <a:solidFill>
              <a:srgbClr val="38BDF8">
                <a:alpha val="62000"/>
              </a:srgbClr>
            </a:solidFill>
            <a:prstDash val="solid"/>
          </a:ln>
          <a:effectLst>
            <a:outerShdw blurRad="101600" dist="38100" dir="54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91440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Networking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29768" y="1280160"/>
            <a:ext cx="1097280" cy="237744"/>
          </a:xfrm>
          <a:prstGeom prst="roundRect">
            <a:avLst>
              <a:gd name="adj" fmla="val 26923"/>
            </a:avLst>
          </a:prstGeom>
          <a:solidFill>
            <a:srgbClr val="38BDF8">
              <a:alpha val="20000"/>
            </a:srgbClr>
          </a:solidFill>
          <a:ln w="6350">
            <a:solidFill>
              <a:srgbClr val="38BD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9768" y="128016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Route53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618488" y="1280160"/>
            <a:ext cx="1097280" cy="237744"/>
          </a:xfrm>
          <a:prstGeom prst="roundRect">
            <a:avLst>
              <a:gd name="adj" fmla="val 26923"/>
            </a:avLst>
          </a:prstGeom>
          <a:solidFill>
            <a:srgbClr val="38BDF8">
              <a:alpha val="20000"/>
            </a:srgbClr>
          </a:solidFill>
          <a:ln w="6350">
            <a:solidFill>
              <a:srgbClr val="38BD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18488" y="128016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CloudFront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29768" y="1591056"/>
            <a:ext cx="1097280" cy="237744"/>
          </a:xfrm>
          <a:prstGeom prst="roundRect">
            <a:avLst>
              <a:gd name="adj" fmla="val 26923"/>
            </a:avLst>
          </a:prstGeom>
          <a:solidFill>
            <a:srgbClr val="38BDF8">
              <a:alpha val="20000"/>
            </a:srgbClr>
          </a:solidFill>
          <a:ln w="6350">
            <a:solidFill>
              <a:srgbClr val="38BD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9768" y="1591056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ALB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618488" y="1591056"/>
            <a:ext cx="1097280" cy="237744"/>
          </a:xfrm>
          <a:prstGeom prst="roundRect">
            <a:avLst>
              <a:gd name="adj" fmla="val 26923"/>
            </a:avLst>
          </a:prstGeom>
          <a:solidFill>
            <a:srgbClr val="38BDF8">
              <a:alpha val="20000"/>
            </a:srgbClr>
          </a:solidFill>
          <a:ln w="6350">
            <a:solidFill>
              <a:srgbClr val="38BD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618488" y="1591056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VPC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154680" y="822960"/>
            <a:ext cx="2560320" cy="1783080"/>
          </a:xfrm>
          <a:prstGeom prst="roundRect">
            <a:avLst>
              <a:gd name="adj" fmla="val 6154"/>
            </a:avLst>
          </a:prstGeom>
          <a:solidFill>
            <a:srgbClr val="162644"/>
          </a:solidFill>
          <a:ln w="8890">
            <a:solidFill>
              <a:srgbClr val="22C55E">
                <a:alpha val="62000"/>
              </a:srgbClr>
            </a:solidFill>
            <a:prstDash val="solid"/>
          </a:ln>
          <a:effectLst>
            <a:outerShdw blurRad="101600" dist="38100" dir="54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291840" y="91440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&amp; Storage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64408" y="1280160"/>
            <a:ext cx="1097280" cy="237744"/>
          </a:xfrm>
          <a:prstGeom prst="roundRect">
            <a:avLst>
              <a:gd name="adj" fmla="val 26923"/>
            </a:avLst>
          </a:prstGeom>
          <a:solidFill>
            <a:srgbClr val="22C55E">
              <a:alpha val="20000"/>
            </a:srgbClr>
          </a:solidFill>
          <a:ln w="6350">
            <a:solidFill>
              <a:srgbClr val="22C5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64408" y="128016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EKS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453128" y="1280160"/>
            <a:ext cx="1097280" cy="237744"/>
          </a:xfrm>
          <a:prstGeom prst="roundRect">
            <a:avLst>
              <a:gd name="adj" fmla="val 26923"/>
            </a:avLst>
          </a:prstGeom>
          <a:solidFill>
            <a:srgbClr val="22C55E">
              <a:alpha val="20000"/>
            </a:srgbClr>
          </a:solidFill>
          <a:ln w="6350">
            <a:solidFill>
              <a:srgbClr val="22C55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53128" y="128016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264408" y="1591056"/>
            <a:ext cx="1097280" cy="237744"/>
          </a:xfrm>
          <a:prstGeom prst="roundRect">
            <a:avLst>
              <a:gd name="adj" fmla="val 26923"/>
            </a:avLst>
          </a:prstGeom>
          <a:solidFill>
            <a:srgbClr val="22C55E">
              <a:alpha val="20000"/>
            </a:srgbClr>
          </a:solidFill>
          <a:ln w="6350">
            <a:solidFill>
              <a:srgbClr val="22C55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64408" y="1591056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S3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453128" y="1591056"/>
            <a:ext cx="1097280" cy="237744"/>
          </a:xfrm>
          <a:prstGeom prst="roundRect">
            <a:avLst>
              <a:gd name="adj" fmla="val 26923"/>
            </a:avLst>
          </a:prstGeom>
          <a:solidFill>
            <a:srgbClr val="22C55E">
              <a:alpha val="20000"/>
            </a:srgbClr>
          </a:solidFill>
          <a:ln w="6350">
            <a:solidFill>
              <a:srgbClr val="22C55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453128" y="1591056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ECR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264408" y="1901952"/>
            <a:ext cx="1097280" cy="237744"/>
          </a:xfrm>
          <a:prstGeom prst="roundRect">
            <a:avLst>
              <a:gd name="adj" fmla="val 26923"/>
            </a:avLst>
          </a:prstGeom>
          <a:solidFill>
            <a:srgbClr val="22C55E">
              <a:alpha val="20000"/>
            </a:srgbClr>
          </a:solidFill>
          <a:ln w="6350">
            <a:solidFill>
              <a:srgbClr val="22C55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64408" y="190195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RDS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989320" y="822960"/>
            <a:ext cx="2560320" cy="1783080"/>
          </a:xfrm>
          <a:prstGeom prst="roundRect">
            <a:avLst>
              <a:gd name="adj" fmla="val 6154"/>
            </a:avLst>
          </a:prstGeom>
          <a:solidFill>
            <a:srgbClr val="162644"/>
          </a:solidFill>
          <a:ln w="8890">
            <a:solidFill>
              <a:srgbClr val="F59E0B">
                <a:alpha val="62000"/>
              </a:srgbClr>
            </a:solidFill>
            <a:prstDash val="solid"/>
          </a:ln>
          <a:effectLst>
            <a:outerShdw blurRad="101600" dist="38100" dir="54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126480" y="91440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099048" y="1280160"/>
            <a:ext cx="1097280" cy="237744"/>
          </a:xfrm>
          <a:prstGeom prst="roundRect">
            <a:avLst>
              <a:gd name="adj" fmla="val 26923"/>
            </a:avLst>
          </a:prstGeom>
          <a:solidFill>
            <a:srgbClr val="F59E0B">
              <a:alpha val="20000"/>
            </a:srgbClr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099048" y="128016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7287768" y="1280160"/>
            <a:ext cx="1097280" cy="237744"/>
          </a:xfrm>
          <a:prstGeom prst="roundRect">
            <a:avLst>
              <a:gd name="adj" fmla="val 26923"/>
            </a:avLst>
          </a:prstGeom>
          <a:solidFill>
            <a:srgbClr val="F59E0B">
              <a:alpha val="20000"/>
            </a:srgbClr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287768" y="128016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099048" y="1591056"/>
            <a:ext cx="1097280" cy="237744"/>
          </a:xfrm>
          <a:prstGeom prst="roundRect">
            <a:avLst>
              <a:gd name="adj" fmla="val 26923"/>
            </a:avLst>
          </a:prstGeom>
          <a:solidFill>
            <a:srgbClr val="F59E0B">
              <a:alpha val="20000"/>
            </a:srgbClr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099048" y="1591056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7287768" y="1591056"/>
            <a:ext cx="1097280" cy="237744"/>
          </a:xfrm>
          <a:prstGeom prst="roundRect">
            <a:avLst>
              <a:gd name="adj" fmla="val 26923"/>
            </a:avLst>
          </a:prstGeom>
          <a:solidFill>
            <a:srgbClr val="F59E0B">
              <a:alpha val="20000"/>
            </a:srgbClr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287768" y="1591056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EventBridge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20040" y="2834640"/>
            <a:ext cx="2560320" cy="1783080"/>
          </a:xfrm>
          <a:prstGeom prst="roundRect">
            <a:avLst>
              <a:gd name="adj" fmla="val 6154"/>
            </a:avLst>
          </a:prstGeom>
          <a:solidFill>
            <a:srgbClr val="162644"/>
          </a:solidFill>
          <a:ln w="8890">
            <a:solidFill>
              <a:srgbClr val="00C9A7">
                <a:alpha val="62000"/>
              </a:srgbClr>
            </a:solidFill>
            <a:prstDash val="solid"/>
          </a:ln>
          <a:effectLst>
            <a:outerShdw blurRad="101600" dist="38100" dir="54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457200" y="292608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29768" y="329184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1618488" y="3291840"/>
            <a:ext cx="1097280" cy="237744"/>
          </a:xfrm>
          <a:prstGeom prst="roundRect">
            <a:avLst>
              <a:gd name="adj" fmla="val 26923"/>
            </a:avLst>
          </a:prstGeom>
          <a:solidFill>
            <a:srgbClr val="00C9A7">
              <a:alpha val="20000"/>
            </a:srgbClr>
          </a:solidFill>
          <a:ln w="6350">
            <a:solidFill>
              <a:srgbClr val="00C9A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618488" y="329184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Manager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384048" y="3289587"/>
            <a:ext cx="1097280" cy="237744"/>
          </a:xfrm>
          <a:prstGeom prst="roundRect">
            <a:avLst>
              <a:gd name="adj" fmla="val 26923"/>
            </a:avLst>
          </a:prstGeom>
          <a:solidFill>
            <a:srgbClr val="00C9A7">
              <a:alpha val="20000"/>
            </a:srgbClr>
          </a:solidFill>
          <a:ln w="635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384048" y="331012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WAF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3154680" y="2834640"/>
            <a:ext cx="2560320" cy="1783080"/>
          </a:xfrm>
          <a:prstGeom prst="roundRect">
            <a:avLst>
              <a:gd name="adj" fmla="val 6154"/>
            </a:avLst>
          </a:prstGeom>
          <a:solidFill>
            <a:srgbClr val="162644"/>
          </a:solidFill>
          <a:ln w="8890">
            <a:solidFill>
              <a:srgbClr val="E879F9">
                <a:alpha val="62000"/>
              </a:srgbClr>
            </a:solidFill>
            <a:prstDash val="solid"/>
          </a:ln>
          <a:effectLst>
            <a:outerShdw blurRad="101600" dist="38100" dir="5400000" algn="bl" rotWithShape="0">
              <a:srgbClr val="000000">
                <a:alpha val="20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3291840" y="292608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79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&amp; Compliance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3264408" y="3291840"/>
            <a:ext cx="1097280" cy="237744"/>
          </a:xfrm>
          <a:prstGeom prst="roundRect">
            <a:avLst>
              <a:gd name="adj" fmla="val 26923"/>
            </a:avLst>
          </a:prstGeom>
          <a:solidFill>
            <a:srgbClr val="E879F9">
              <a:alpha val="20000"/>
            </a:srgbClr>
          </a:solidFill>
          <a:ln w="6350">
            <a:solidFill>
              <a:srgbClr val="E879F9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264408" y="329184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CloudWatch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453128" y="3291840"/>
            <a:ext cx="1097280" cy="237744"/>
          </a:xfrm>
          <a:prstGeom prst="roundRect">
            <a:avLst>
              <a:gd name="adj" fmla="val 26923"/>
            </a:avLst>
          </a:prstGeom>
          <a:solidFill>
            <a:srgbClr val="E879F9">
              <a:alpha val="20000"/>
            </a:srgbClr>
          </a:solidFill>
          <a:ln w="6350">
            <a:solidFill>
              <a:srgbClr val="E879F9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453128" y="329184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CloudTrail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3264408" y="3602736"/>
            <a:ext cx="1097280" cy="237744"/>
          </a:xfrm>
          <a:prstGeom prst="roundRect">
            <a:avLst>
              <a:gd name="adj" fmla="val 26923"/>
            </a:avLst>
          </a:prstGeom>
          <a:solidFill>
            <a:srgbClr val="E879F9">
              <a:alpha val="20000"/>
            </a:srgbClr>
          </a:solidFill>
          <a:ln w="6350">
            <a:solidFill>
              <a:srgbClr val="E879F9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264408" y="3602736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Config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5989320" y="2834640"/>
            <a:ext cx="2560320" cy="1783080"/>
          </a:xfrm>
          <a:prstGeom prst="roundRect">
            <a:avLst>
              <a:gd name="adj" fmla="val 6154"/>
            </a:avLst>
          </a:prstGeom>
          <a:solidFill>
            <a:srgbClr val="162644"/>
          </a:solidFill>
          <a:ln w="8890">
            <a:solidFill>
              <a:srgbClr val="F472B6">
                <a:alpha val="62000"/>
              </a:srgbClr>
            </a:solidFill>
            <a:prstDash val="solid"/>
          </a:ln>
          <a:effectLst>
            <a:outerShdw blurRad="101600" dist="38100" dir="54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6126480" y="292608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ML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6099048" y="3291840"/>
            <a:ext cx="1097280" cy="237744"/>
          </a:xfrm>
          <a:prstGeom prst="roundRect">
            <a:avLst>
              <a:gd name="adj" fmla="val 26923"/>
            </a:avLst>
          </a:prstGeom>
          <a:solidFill>
            <a:srgbClr val="F472B6">
              <a:alpha val="20000"/>
            </a:srgbClr>
          </a:solidFill>
          <a:ln w="6350">
            <a:solidFill>
              <a:srgbClr val="F472B6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099048" y="329184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Bedrock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274320" y="484632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92608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&amp; GitOps Pipelines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841248"/>
            <a:ext cx="8412480" cy="1645920"/>
          </a:xfrm>
          <a:prstGeom prst="roundRect">
            <a:avLst>
              <a:gd name="adj" fmla="val 6667"/>
            </a:avLst>
          </a:prstGeom>
          <a:solidFill>
            <a:srgbClr val="162644"/>
          </a:solidFill>
          <a:ln w="8890">
            <a:solidFill>
              <a:srgbClr val="F59E0B">
                <a:alpha val="6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95097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Pipeline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335024"/>
            <a:ext cx="1463040" cy="822960"/>
          </a:xfrm>
          <a:prstGeom prst="roundRect">
            <a:avLst>
              <a:gd name="adj" fmla="val 10000"/>
            </a:avLst>
          </a:prstGeom>
          <a:solidFill>
            <a:srgbClr val="F59E0B">
              <a:alpha val="18000"/>
            </a:srgbClr>
          </a:solidFill>
          <a:ln w="762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35024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929384" y="1709928"/>
            <a:ext cx="164592" cy="91440"/>
          </a:xfrm>
          <a:prstGeom prst="ellipse">
            <a:avLst/>
          </a:prstGeom>
          <a:solidFill>
            <a:srgbClr val="F59E0B">
              <a:alpha val="50000"/>
            </a:srgbClr>
          </a:solidFill>
          <a:ln w="12700">
            <a:solidFill>
              <a:srgbClr val="F59E0B">
                <a:alpha val="5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103120" y="1335024"/>
            <a:ext cx="1463040" cy="822960"/>
          </a:xfrm>
          <a:prstGeom prst="roundRect">
            <a:avLst>
              <a:gd name="adj" fmla="val 10000"/>
            </a:avLst>
          </a:prstGeom>
          <a:solidFill>
            <a:srgbClr val="22C55E">
              <a:alpha val="18000"/>
            </a:srgbClr>
          </a:solidFill>
          <a:ln w="7620">
            <a:solidFill>
              <a:srgbClr val="22C5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03120" y="1335024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Checkov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575304" y="1709928"/>
            <a:ext cx="164592" cy="91440"/>
          </a:xfrm>
          <a:prstGeom prst="ellipse">
            <a:avLst/>
          </a:prstGeom>
          <a:solidFill>
            <a:srgbClr val="22C55E">
              <a:alpha val="50000"/>
            </a:srgbClr>
          </a:solidFill>
          <a:ln w="12700">
            <a:solidFill>
              <a:srgbClr val="22C55E">
                <a:alpha val="5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749040" y="1335024"/>
            <a:ext cx="1463040" cy="822960"/>
          </a:xfrm>
          <a:prstGeom prst="roundRect">
            <a:avLst>
              <a:gd name="adj" fmla="val 10000"/>
            </a:avLst>
          </a:prstGeom>
          <a:solidFill>
            <a:srgbClr val="00C9A7">
              <a:alpha val="18000"/>
            </a:srgbClr>
          </a:solidFill>
          <a:ln w="7620">
            <a:solidFill>
              <a:srgbClr val="00C9A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49040" y="1335024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Plan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221224" y="1709928"/>
            <a:ext cx="164592" cy="91440"/>
          </a:xfrm>
          <a:prstGeom prst="ellipse">
            <a:avLst/>
          </a:prstGeom>
          <a:solidFill>
            <a:srgbClr val="00C9A7">
              <a:alpha val="50000"/>
            </a:srgbClr>
          </a:solidFill>
          <a:ln w="12700">
            <a:solidFill>
              <a:srgbClr val="00C9A7">
                <a:alpha val="5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394960" y="1335024"/>
            <a:ext cx="1463040" cy="822960"/>
          </a:xfrm>
          <a:prstGeom prst="roundRect">
            <a:avLst>
              <a:gd name="adj" fmla="val 10000"/>
            </a:avLst>
          </a:prstGeom>
          <a:solidFill>
            <a:srgbClr val="38BDF8">
              <a:alpha val="18000"/>
            </a:srgbClr>
          </a:solidFill>
          <a:ln w="7620">
            <a:solidFill>
              <a:srgbClr val="38BD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94960" y="1335024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Infracost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867144" y="1709928"/>
            <a:ext cx="164592" cy="91440"/>
          </a:xfrm>
          <a:prstGeom prst="ellipse">
            <a:avLst/>
          </a:prstGeom>
          <a:solidFill>
            <a:srgbClr val="38BDF8">
              <a:alpha val="50000"/>
            </a:srgbClr>
          </a:solidFill>
          <a:ln w="12700">
            <a:solidFill>
              <a:srgbClr val="38BDF8">
                <a:alpha val="5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040880" y="1335024"/>
            <a:ext cx="1463040" cy="822960"/>
          </a:xfrm>
          <a:prstGeom prst="roundRect">
            <a:avLst>
              <a:gd name="adj" fmla="val 10000"/>
            </a:avLst>
          </a:prstGeom>
          <a:solidFill>
            <a:srgbClr val="22C55E">
              <a:alpha val="18000"/>
            </a:srgbClr>
          </a:solidFill>
          <a:ln w="7620">
            <a:solidFill>
              <a:srgbClr val="22C55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040880" y="1335024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Apply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2651760"/>
            <a:ext cx="8412480" cy="1645920"/>
          </a:xfrm>
          <a:prstGeom prst="roundRect">
            <a:avLst>
              <a:gd name="adj" fmla="val 6667"/>
            </a:avLst>
          </a:prstGeom>
          <a:solidFill>
            <a:srgbClr val="162644"/>
          </a:solidFill>
          <a:ln w="8890">
            <a:solidFill>
              <a:srgbClr val="00C9A7">
                <a:alpha val="6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276148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Pipeline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145536"/>
            <a:ext cx="992777" cy="822960"/>
          </a:xfrm>
          <a:prstGeom prst="roundRect">
            <a:avLst>
              <a:gd name="adj" fmla="val 10000"/>
            </a:avLst>
          </a:prstGeom>
          <a:solidFill>
            <a:srgbClr val="F59E0B">
              <a:alpha val="18000"/>
            </a:srgbClr>
          </a:solidFill>
          <a:ln w="762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145536"/>
            <a:ext cx="992777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459121" y="3520440"/>
            <a:ext cx="164592" cy="91440"/>
          </a:xfrm>
          <a:prstGeom prst="ellipse">
            <a:avLst/>
          </a:prstGeom>
          <a:solidFill>
            <a:srgbClr val="F59E0B">
              <a:alpha val="50000"/>
            </a:srgbClr>
          </a:solidFill>
          <a:ln w="12700">
            <a:solidFill>
              <a:srgbClr val="F59E0B">
                <a:alpha val="5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632857" y="3145536"/>
            <a:ext cx="992777" cy="822960"/>
          </a:xfrm>
          <a:prstGeom prst="roundRect">
            <a:avLst>
              <a:gd name="adj" fmla="val 10000"/>
            </a:avLst>
          </a:prstGeom>
          <a:solidFill>
            <a:srgbClr val="38BDF8">
              <a:alpha val="18000"/>
            </a:srgbClr>
          </a:solidFill>
          <a:ln w="7620">
            <a:solidFill>
              <a:srgbClr val="38BDF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632857" y="3145536"/>
            <a:ext cx="992777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&amp; Test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634778" y="3520440"/>
            <a:ext cx="164592" cy="91440"/>
          </a:xfrm>
          <a:prstGeom prst="ellipse">
            <a:avLst/>
          </a:prstGeom>
          <a:solidFill>
            <a:srgbClr val="38BDF8">
              <a:alpha val="50000"/>
            </a:srgbClr>
          </a:solidFill>
          <a:ln w="12700">
            <a:solidFill>
              <a:srgbClr val="38BDF8">
                <a:alpha val="5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808514" y="3145536"/>
            <a:ext cx="992777" cy="822960"/>
          </a:xfrm>
          <a:prstGeom prst="roundRect">
            <a:avLst>
              <a:gd name="adj" fmla="val 10000"/>
            </a:avLst>
          </a:prstGeom>
          <a:solidFill>
            <a:srgbClr val="00C9A7">
              <a:alpha val="18000"/>
            </a:srgbClr>
          </a:solidFill>
          <a:ln w="7620">
            <a:solidFill>
              <a:srgbClr val="00C9A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808514" y="3145536"/>
            <a:ext cx="992777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Build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810435" y="3520440"/>
            <a:ext cx="164592" cy="91440"/>
          </a:xfrm>
          <a:prstGeom prst="ellipse">
            <a:avLst/>
          </a:prstGeom>
          <a:solidFill>
            <a:srgbClr val="00C9A7">
              <a:alpha val="50000"/>
            </a:srgbClr>
          </a:solidFill>
          <a:ln w="12700">
            <a:solidFill>
              <a:srgbClr val="00C9A7">
                <a:alpha val="5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984171" y="3145536"/>
            <a:ext cx="992777" cy="822960"/>
          </a:xfrm>
          <a:prstGeom prst="roundRect">
            <a:avLst>
              <a:gd name="adj" fmla="val 10000"/>
            </a:avLst>
          </a:prstGeom>
          <a:solidFill>
            <a:srgbClr val="22C55E">
              <a:alpha val="18000"/>
            </a:srgbClr>
          </a:solidFill>
          <a:ln w="7620">
            <a:solidFill>
              <a:srgbClr val="22C55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984171" y="3145536"/>
            <a:ext cx="992777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to ECR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986093" y="3520440"/>
            <a:ext cx="164592" cy="91440"/>
          </a:xfrm>
          <a:prstGeom prst="ellipse">
            <a:avLst/>
          </a:prstGeom>
          <a:solidFill>
            <a:srgbClr val="22C55E">
              <a:alpha val="50000"/>
            </a:srgbClr>
          </a:solidFill>
          <a:ln w="12700">
            <a:solidFill>
              <a:srgbClr val="22C55E">
                <a:alpha val="5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159829" y="3145536"/>
            <a:ext cx="992777" cy="822960"/>
          </a:xfrm>
          <a:prstGeom prst="roundRect">
            <a:avLst>
              <a:gd name="adj" fmla="val 10000"/>
            </a:avLst>
          </a:prstGeom>
          <a:solidFill>
            <a:srgbClr val="00C9A7">
              <a:alpha val="18000"/>
            </a:srgbClr>
          </a:solidFill>
          <a:ln w="7620">
            <a:solidFill>
              <a:srgbClr val="00C9A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159829" y="3145536"/>
            <a:ext cx="992777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GitOps Repo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161750" y="3520440"/>
            <a:ext cx="164592" cy="91440"/>
          </a:xfrm>
          <a:prstGeom prst="ellipse">
            <a:avLst/>
          </a:prstGeom>
          <a:solidFill>
            <a:srgbClr val="00C9A7">
              <a:alpha val="50000"/>
            </a:srgbClr>
          </a:solidFill>
          <a:ln w="12700">
            <a:solidFill>
              <a:srgbClr val="00C9A7">
                <a:alpha val="5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335486" y="3145536"/>
            <a:ext cx="992777" cy="822960"/>
          </a:xfrm>
          <a:prstGeom prst="roundRect">
            <a:avLst>
              <a:gd name="adj" fmla="val 10000"/>
            </a:avLst>
          </a:prstGeom>
          <a:solidFill>
            <a:srgbClr val="38BDF8">
              <a:alpha val="18000"/>
            </a:srgbClr>
          </a:solidFill>
          <a:ln w="7620">
            <a:solidFill>
              <a:srgbClr val="38BDF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35486" y="3145536"/>
            <a:ext cx="992777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ArgoCD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7337407" y="3520440"/>
            <a:ext cx="164592" cy="91440"/>
          </a:xfrm>
          <a:prstGeom prst="ellipse">
            <a:avLst/>
          </a:prstGeom>
          <a:solidFill>
            <a:srgbClr val="38BDF8">
              <a:alpha val="50000"/>
            </a:srgbClr>
          </a:solidFill>
          <a:ln w="12700">
            <a:solidFill>
              <a:srgbClr val="38BDF8">
                <a:alpha val="5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511143" y="3145536"/>
            <a:ext cx="992777" cy="822960"/>
          </a:xfrm>
          <a:prstGeom prst="roundRect">
            <a:avLst>
              <a:gd name="adj" fmla="val 10000"/>
            </a:avLst>
          </a:prstGeom>
          <a:solidFill>
            <a:srgbClr val="22C55E">
              <a:alpha val="18000"/>
            </a:srgbClr>
          </a:solidFill>
          <a:ln w="7620">
            <a:solidFill>
              <a:srgbClr val="22C55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511143" y="3145536"/>
            <a:ext cx="992777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to EKS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365760" y="4389120"/>
            <a:ext cx="8412480" cy="475488"/>
          </a:xfrm>
          <a:prstGeom prst="roundRect">
            <a:avLst>
              <a:gd name="adj" fmla="val 19231"/>
            </a:avLst>
          </a:prstGeom>
          <a:solidFill>
            <a:srgbClr val="1E3A5F"/>
          </a:solidFill>
          <a:ln w="7620">
            <a:solidFill>
              <a:srgbClr val="22C55E">
                <a:alpha val="70000"/>
              </a:srgbClr>
            </a:solidFill>
            <a:prstDash val="solid"/>
          </a:ln>
        </p:spPr>
      </p:sp>
      <p:pic>
        <p:nvPicPr>
          <p:cNvPr id="4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453128"/>
            <a:ext cx="274320" cy="274320"/>
          </a:xfrm>
          <a:prstGeom prst="rect">
            <a:avLst/>
          </a:prstGeom>
        </p:spPr>
      </p:pic>
      <p:sp>
        <p:nvSpPr>
          <p:cNvPr id="44" name="Text 41"/>
          <p:cNvSpPr/>
          <p:nvPr/>
        </p:nvSpPr>
        <p:spPr>
          <a:xfrm>
            <a:off x="914400" y="4425696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OIDC Authentication  — GitHub Actions connects to AWS without long-lived credentials (keyless, secure, automated)</a:t>
            </a:r>
            <a:endParaRPr lang="en-US" sz="1100" dirty="0"/>
          </a:p>
        </p:txBody>
      </p:sp>
      <p:sp>
        <p:nvSpPr>
          <p:cNvPr id="45" name="Text 42"/>
          <p:cNvSpPr/>
          <p:nvPr/>
        </p:nvSpPr>
        <p:spPr>
          <a:xfrm>
            <a:off x="274320" y="484632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92608"/>
            <a:ext cx="109728" cy="109728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Compliance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896112"/>
            <a:ext cx="3977640" cy="1810512"/>
          </a:xfrm>
          <a:prstGeom prst="roundRect">
            <a:avLst>
              <a:gd name="adj" fmla="val 6566"/>
            </a:avLst>
          </a:prstGeom>
          <a:solidFill>
            <a:srgbClr val="162644"/>
          </a:solidFill>
          <a:ln w="8890">
            <a:solidFill>
              <a:srgbClr val="00C9A7">
                <a:alpha val="62000"/>
              </a:srgbClr>
            </a:solidFill>
            <a:prstDash val="solid"/>
          </a:ln>
          <a:effectLst>
            <a:outerShdw blurRad="127000" dist="38100" dir="54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060704"/>
            <a:ext cx="548640" cy="548640"/>
          </a:xfrm>
          <a:prstGeom prst="ellipse">
            <a:avLst/>
          </a:prstGeom>
          <a:solidFill>
            <a:srgbClr val="00C9A7">
              <a:alpha val="20000"/>
            </a:srgbClr>
          </a:solidFill>
          <a:ln w="12700">
            <a:solidFill>
              <a:srgbClr val="00C9A7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" y="1143000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70432" y="1097280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Security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48640" y="1581912"/>
            <a:ext cx="36118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C5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WAF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C5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Manager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663440" y="896112"/>
            <a:ext cx="3977640" cy="1810512"/>
          </a:xfrm>
          <a:prstGeom prst="roundRect">
            <a:avLst>
              <a:gd name="adj" fmla="val 6566"/>
            </a:avLst>
          </a:prstGeom>
          <a:solidFill>
            <a:srgbClr val="162644"/>
          </a:solidFill>
          <a:ln w="8890">
            <a:solidFill>
              <a:srgbClr val="38BDF8">
                <a:alpha val="62000"/>
              </a:srgbClr>
            </a:solidFill>
            <a:prstDash val="solid"/>
          </a:ln>
          <a:effectLst>
            <a:outerShdw blurRad="127000" dist="38100" dir="54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800600" y="1060704"/>
            <a:ext cx="548640" cy="548640"/>
          </a:xfrm>
          <a:prstGeom prst="ellipse">
            <a:avLst/>
          </a:prstGeom>
          <a:solidFill>
            <a:srgbClr val="38BDF8">
              <a:alpha val="20000"/>
            </a:srgbClr>
          </a:solidFill>
          <a:ln w="12700">
            <a:solidFill>
              <a:srgbClr val="38BDF8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2896" y="1143000"/>
            <a:ext cx="384048" cy="3840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68112" y="1097280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Security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846320" y="1581912"/>
            <a:ext cx="36118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C5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Config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C5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CloudTrail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C5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VPC Isolation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365760" y="2889504"/>
            <a:ext cx="3977640" cy="1810512"/>
          </a:xfrm>
          <a:prstGeom prst="roundRect">
            <a:avLst>
              <a:gd name="adj" fmla="val 6566"/>
            </a:avLst>
          </a:prstGeom>
          <a:solidFill>
            <a:srgbClr val="162644"/>
          </a:solidFill>
          <a:ln w="8890">
            <a:solidFill>
              <a:srgbClr val="22C55E">
                <a:alpha val="62000"/>
              </a:srgbClr>
            </a:solidFill>
            <a:prstDash val="solid"/>
          </a:ln>
          <a:effectLst>
            <a:outerShdw blurRad="127000" dist="38100" dir="54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502920" y="3054096"/>
            <a:ext cx="548640" cy="548640"/>
          </a:xfrm>
          <a:prstGeom prst="ellipse">
            <a:avLst/>
          </a:prstGeom>
          <a:solidFill>
            <a:srgbClr val="22C55E">
              <a:alpha val="20000"/>
            </a:srgbClr>
          </a:solidFill>
          <a:ln w="12700">
            <a:solidFill>
              <a:srgbClr val="22C55E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216" y="3136392"/>
            <a:ext cx="384048" cy="38404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170432" y="3090672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&amp; Audit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548640" y="3575304"/>
            <a:ext cx="36118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C5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Service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C5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RDS Encryption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C5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KMS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4663440" y="2889504"/>
            <a:ext cx="3977640" cy="1810512"/>
          </a:xfrm>
          <a:prstGeom prst="roundRect">
            <a:avLst>
              <a:gd name="adj" fmla="val 6566"/>
            </a:avLst>
          </a:prstGeom>
          <a:solidFill>
            <a:srgbClr val="162644"/>
          </a:solidFill>
          <a:ln w="8890">
            <a:solidFill>
              <a:srgbClr val="F59E0B">
                <a:alpha val="62000"/>
              </a:srgbClr>
            </a:solidFill>
            <a:prstDash val="solid"/>
          </a:ln>
          <a:effectLst>
            <a:outerShdw blurRad="127000" dist="38100" dir="54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800600" y="3054096"/>
            <a:ext cx="548640" cy="548640"/>
          </a:xfrm>
          <a:prstGeom prst="ellipse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82896" y="3136392"/>
            <a:ext cx="384048" cy="38404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468112" y="3090672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&amp; Alerting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4846320" y="3575304"/>
            <a:ext cx="36118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C5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CloudWatch Alarms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C5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Loki Log Aggregation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C5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Checks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274320" y="484632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92608"/>
            <a:ext cx="109728" cy="10972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 &amp; High Availability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2743200" cy="658368"/>
          </a:xfrm>
          <a:prstGeom prst="roundRect">
            <a:avLst>
              <a:gd name="adj" fmla="val 13889"/>
            </a:avLst>
          </a:prstGeom>
          <a:solidFill>
            <a:srgbClr val="162644"/>
          </a:solidFill>
          <a:ln w="8890">
            <a:solidFill>
              <a:srgbClr val="00C9A7">
                <a:alpha val="62000"/>
              </a:srgbClr>
            </a:solidFill>
            <a:prstDash val="solid"/>
          </a:ln>
          <a:effectLst>
            <a:outerShdw blurRad="101600" dist="38100" dir="5400000" algn="bl" rotWithShape="0">
              <a:srgbClr val="000000">
                <a:alpha val="20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950976"/>
            <a:ext cx="402336" cy="4023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87552" y="914400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987552" y="1207008"/>
            <a:ext cx="20299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Requests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1691640" y="1481328"/>
            <a:ext cx="91440" cy="201168"/>
          </a:xfrm>
          <a:prstGeom prst="ellipse">
            <a:avLst/>
          </a:prstGeom>
          <a:solidFill>
            <a:srgbClr val="00C9A7">
              <a:alpha val="50000"/>
            </a:srgbClr>
          </a:solidFill>
          <a:ln w="12700">
            <a:solidFill>
              <a:srgbClr val="00C9A7">
                <a:alpha val="50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65760" y="1682496"/>
            <a:ext cx="2743200" cy="658368"/>
          </a:xfrm>
          <a:prstGeom prst="roundRect">
            <a:avLst>
              <a:gd name="adj" fmla="val 13889"/>
            </a:avLst>
          </a:prstGeom>
          <a:solidFill>
            <a:srgbClr val="162644"/>
          </a:solidFill>
          <a:ln w="8890">
            <a:solidFill>
              <a:srgbClr val="38BDF8">
                <a:alpha val="62000"/>
              </a:srgbClr>
            </a:solidFill>
            <a:prstDash val="solid"/>
          </a:ln>
          <a:effectLst>
            <a:outerShdw blurRad="101600" dist="38100" dir="5400000" algn="bl" rotWithShape="0">
              <a:srgbClr val="000000">
                <a:alpha val="20000"/>
              </a:srgbClr>
            </a:outerShdw>
          </a:effectLst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" y="1810512"/>
            <a:ext cx="402336" cy="40233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87552" y="1773936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ALB + WAF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987552" y="2066544"/>
            <a:ext cx="20299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Balancing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1691640" y="2340864"/>
            <a:ext cx="91440" cy="201168"/>
          </a:xfrm>
          <a:prstGeom prst="ellipse">
            <a:avLst/>
          </a:prstGeom>
          <a:solidFill>
            <a:srgbClr val="38BDF8">
              <a:alpha val="50000"/>
            </a:srgbClr>
          </a:solidFill>
          <a:ln w="12700">
            <a:solidFill>
              <a:srgbClr val="38BDF8">
                <a:alpha val="50000"/>
              </a:srgbClr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365760" y="2542032"/>
            <a:ext cx="2743200" cy="658368"/>
          </a:xfrm>
          <a:prstGeom prst="roundRect">
            <a:avLst>
              <a:gd name="adj" fmla="val 13889"/>
            </a:avLst>
          </a:prstGeom>
          <a:solidFill>
            <a:srgbClr val="162644"/>
          </a:solidFill>
          <a:ln w="8890">
            <a:solidFill>
              <a:srgbClr val="22C55E">
                <a:alpha val="62000"/>
              </a:srgbClr>
            </a:solidFill>
            <a:prstDash val="solid"/>
          </a:ln>
          <a:effectLst>
            <a:outerShdw blurRad="101600" dist="38100" dir="5400000" algn="bl" rotWithShape="0">
              <a:srgbClr val="000000">
                <a:alpha val="20000"/>
              </a:srgbClr>
            </a:outerShdw>
          </a:effectLst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" y="2670048"/>
            <a:ext cx="402336" cy="40233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87552" y="2633472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EKS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987552" y="2926080"/>
            <a:ext cx="20299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Cluster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1691640" y="3200400"/>
            <a:ext cx="91440" cy="201168"/>
          </a:xfrm>
          <a:prstGeom prst="ellipse">
            <a:avLst/>
          </a:prstGeom>
          <a:solidFill>
            <a:srgbClr val="22C55E">
              <a:alpha val="50000"/>
            </a:srgbClr>
          </a:solidFill>
          <a:ln w="12700">
            <a:solidFill>
              <a:srgbClr val="22C55E">
                <a:alpha val="50000"/>
              </a:srgbClr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365760" y="3401568"/>
            <a:ext cx="2743200" cy="658368"/>
          </a:xfrm>
          <a:prstGeom prst="roundRect">
            <a:avLst>
              <a:gd name="adj" fmla="val 13889"/>
            </a:avLst>
          </a:prstGeom>
          <a:solidFill>
            <a:srgbClr val="162644"/>
          </a:solidFill>
          <a:ln w="8890">
            <a:solidFill>
              <a:srgbClr val="00C9A7">
                <a:alpha val="62000"/>
              </a:srgbClr>
            </a:solidFill>
            <a:prstDash val="solid"/>
          </a:ln>
          <a:effectLst>
            <a:outerShdw blurRad="101600" dist="38100" dir="5400000" algn="bl" rotWithShape="0">
              <a:srgbClr val="000000">
                <a:alpha val="20000"/>
              </a:srgbClr>
            </a:outerShdw>
          </a:effectLst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488" y="3529584"/>
            <a:ext cx="402336" cy="40233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87552" y="3493008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Microservices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987552" y="3785616"/>
            <a:ext cx="20299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Services</a:t>
            </a:r>
            <a:endParaRPr lang="en-US" sz="1000" dirty="0"/>
          </a:p>
        </p:txBody>
      </p:sp>
      <p:sp>
        <p:nvSpPr>
          <p:cNvPr id="23" name="Shape 17"/>
          <p:cNvSpPr/>
          <p:nvPr/>
        </p:nvSpPr>
        <p:spPr>
          <a:xfrm>
            <a:off x="1691640" y="4059936"/>
            <a:ext cx="91440" cy="201168"/>
          </a:xfrm>
          <a:prstGeom prst="ellipse">
            <a:avLst/>
          </a:prstGeom>
          <a:solidFill>
            <a:srgbClr val="00C9A7">
              <a:alpha val="50000"/>
            </a:srgbClr>
          </a:solidFill>
          <a:ln w="12700">
            <a:solidFill>
              <a:srgbClr val="00C9A7">
                <a:alpha val="50000"/>
              </a:srgbClr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365760" y="4261104"/>
            <a:ext cx="2743200" cy="658368"/>
          </a:xfrm>
          <a:prstGeom prst="roundRect">
            <a:avLst>
              <a:gd name="adj" fmla="val 13889"/>
            </a:avLst>
          </a:prstGeom>
          <a:solidFill>
            <a:srgbClr val="162644"/>
          </a:solidFill>
          <a:ln w="8890">
            <a:solidFill>
              <a:srgbClr val="F59E0B">
                <a:alpha val="62000"/>
              </a:srgbClr>
            </a:solidFill>
            <a:prstDash val="solid"/>
          </a:ln>
          <a:effectLst>
            <a:outerShdw blurRad="101600" dist="38100" dir="5400000" algn="bl" rotWithShape="0">
              <a:srgbClr val="000000">
                <a:alpha val="20000"/>
              </a:srgbClr>
            </a:outerShdw>
          </a:effectLst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5488" y="4389120"/>
            <a:ext cx="402336" cy="402336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987552" y="4352544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RDS Multi-AZ</a:t>
            </a:r>
            <a:endParaRPr lang="en-US" sz="1300" dirty="0"/>
          </a:p>
        </p:txBody>
      </p:sp>
      <p:sp>
        <p:nvSpPr>
          <p:cNvPr id="27" name="Text 20"/>
          <p:cNvSpPr/>
          <p:nvPr/>
        </p:nvSpPr>
        <p:spPr>
          <a:xfrm>
            <a:off x="987552" y="4645152"/>
            <a:ext cx="20299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 Database</a:t>
            </a:r>
            <a:endParaRPr lang="en-US" sz="1000" dirty="0"/>
          </a:p>
        </p:txBody>
      </p:sp>
      <p:sp>
        <p:nvSpPr>
          <p:cNvPr id="28" name="Shape 21"/>
          <p:cNvSpPr/>
          <p:nvPr/>
        </p:nvSpPr>
        <p:spPr>
          <a:xfrm>
            <a:off x="3474720" y="804672"/>
            <a:ext cx="5303520" cy="658368"/>
          </a:xfrm>
          <a:prstGeom prst="roundRect">
            <a:avLst>
              <a:gd name="adj" fmla="val 13889"/>
            </a:avLst>
          </a:prstGeom>
          <a:solidFill>
            <a:srgbClr val="162644"/>
          </a:solidFill>
          <a:ln w="6350">
            <a:solidFill>
              <a:srgbClr val="22C55E">
                <a:alpha val="50000"/>
              </a:srgbClr>
            </a:solidFill>
            <a:prstDash val="solid"/>
          </a:ln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11880" y="932688"/>
            <a:ext cx="384048" cy="384048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4114800" y="868680"/>
            <a:ext cx="4553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Multi-AZ Deployment</a:t>
            </a:r>
            <a:endParaRPr lang="en-US" sz="1200" dirty="0"/>
          </a:p>
        </p:txBody>
      </p:sp>
      <p:sp>
        <p:nvSpPr>
          <p:cNvPr id="31" name="Text 23"/>
          <p:cNvSpPr/>
          <p:nvPr/>
        </p:nvSpPr>
        <p:spPr>
          <a:xfrm>
            <a:off x="4114800" y="1133856"/>
            <a:ext cx="4553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5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span 2 availability zones for zero single-point-of-failure</a:t>
            </a:r>
            <a:endParaRPr lang="en-US" sz="1000" dirty="0"/>
          </a:p>
        </p:txBody>
      </p:sp>
      <p:sp>
        <p:nvSpPr>
          <p:cNvPr id="32" name="Shape 24"/>
          <p:cNvSpPr/>
          <p:nvPr/>
        </p:nvSpPr>
        <p:spPr>
          <a:xfrm>
            <a:off x="3474720" y="1655064"/>
            <a:ext cx="5303520" cy="658368"/>
          </a:xfrm>
          <a:prstGeom prst="roundRect">
            <a:avLst>
              <a:gd name="adj" fmla="val 13889"/>
            </a:avLst>
          </a:prstGeom>
          <a:solidFill>
            <a:srgbClr val="162644"/>
          </a:solidFill>
          <a:ln w="6350">
            <a:solidFill>
              <a:srgbClr val="00C9A7">
                <a:alpha val="50000"/>
              </a:srgbClr>
            </a:solidFill>
            <a:prstDash val="solid"/>
          </a:ln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33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11880" y="1783080"/>
            <a:ext cx="384048" cy="384048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4114800" y="1719072"/>
            <a:ext cx="4553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Healing</a:t>
            </a:r>
            <a:endParaRPr lang="en-US" sz="1200" dirty="0"/>
          </a:p>
        </p:txBody>
      </p:sp>
      <p:sp>
        <p:nvSpPr>
          <p:cNvPr id="35" name="Text 26"/>
          <p:cNvSpPr/>
          <p:nvPr/>
        </p:nvSpPr>
        <p:spPr>
          <a:xfrm>
            <a:off x="4114800" y="1984248"/>
            <a:ext cx="4553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5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restarts failed pods automatically</a:t>
            </a:r>
            <a:endParaRPr lang="en-US" sz="1000" dirty="0"/>
          </a:p>
        </p:txBody>
      </p:sp>
      <p:sp>
        <p:nvSpPr>
          <p:cNvPr id="36" name="Shape 27"/>
          <p:cNvSpPr/>
          <p:nvPr/>
        </p:nvSpPr>
        <p:spPr>
          <a:xfrm>
            <a:off x="3474720" y="2505456"/>
            <a:ext cx="5303520" cy="658368"/>
          </a:xfrm>
          <a:prstGeom prst="roundRect">
            <a:avLst>
              <a:gd name="adj" fmla="val 13889"/>
            </a:avLst>
          </a:prstGeom>
          <a:solidFill>
            <a:srgbClr val="162644"/>
          </a:solidFill>
          <a:ln w="6350">
            <a:solidFill>
              <a:srgbClr val="38BDF8">
                <a:alpha val="50000"/>
              </a:srgbClr>
            </a:solidFill>
            <a:prstDash val="solid"/>
          </a:ln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37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11880" y="2633472"/>
            <a:ext cx="384048" cy="384048"/>
          </a:xfrm>
          <a:prstGeom prst="rect">
            <a:avLst/>
          </a:prstGeom>
        </p:spPr>
      </p:pic>
      <p:sp>
        <p:nvSpPr>
          <p:cNvPr id="38" name="Text 28"/>
          <p:cNvSpPr/>
          <p:nvPr/>
        </p:nvSpPr>
        <p:spPr>
          <a:xfrm>
            <a:off x="4114800" y="2569464"/>
            <a:ext cx="4553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Deployments</a:t>
            </a:r>
            <a:endParaRPr lang="en-US" sz="1200" dirty="0"/>
          </a:p>
        </p:txBody>
      </p:sp>
      <p:sp>
        <p:nvSpPr>
          <p:cNvPr id="39" name="Text 29"/>
          <p:cNvSpPr/>
          <p:nvPr/>
        </p:nvSpPr>
        <p:spPr>
          <a:xfrm>
            <a:off x="4114800" y="2834640"/>
            <a:ext cx="4553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5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Zero-downtime updates via ArgoCD with health checks</a:t>
            </a:r>
            <a:endParaRPr lang="en-US" sz="1000" dirty="0"/>
          </a:p>
        </p:txBody>
      </p:sp>
      <p:sp>
        <p:nvSpPr>
          <p:cNvPr id="40" name="Shape 30"/>
          <p:cNvSpPr/>
          <p:nvPr/>
        </p:nvSpPr>
        <p:spPr>
          <a:xfrm>
            <a:off x="3474720" y="3355848"/>
            <a:ext cx="5303520" cy="658368"/>
          </a:xfrm>
          <a:prstGeom prst="roundRect">
            <a:avLst>
              <a:gd name="adj" fmla="val 13889"/>
            </a:avLst>
          </a:prstGeom>
          <a:solidFill>
            <a:srgbClr val="162644"/>
          </a:solidFill>
          <a:ln w="6350">
            <a:solidFill>
              <a:srgbClr val="38BDF8">
                <a:alpha val="50000"/>
              </a:srgbClr>
            </a:solidFill>
            <a:prstDash val="solid"/>
          </a:ln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41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611880" y="3483864"/>
            <a:ext cx="384048" cy="384048"/>
          </a:xfrm>
          <a:prstGeom prst="rect">
            <a:avLst/>
          </a:prstGeom>
        </p:spPr>
      </p:pic>
      <p:sp>
        <p:nvSpPr>
          <p:cNvPr id="42" name="Text 31"/>
          <p:cNvSpPr/>
          <p:nvPr/>
        </p:nvSpPr>
        <p:spPr>
          <a:xfrm>
            <a:off x="4114800" y="3419856"/>
            <a:ext cx="4553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CloudFront Caching</a:t>
            </a:r>
            <a:endParaRPr lang="en-US" sz="1200" dirty="0"/>
          </a:p>
        </p:txBody>
      </p:sp>
      <p:sp>
        <p:nvSpPr>
          <p:cNvPr id="43" name="Text 32"/>
          <p:cNvSpPr/>
          <p:nvPr/>
        </p:nvSpPr>
        <p:spPr>
          <a:xfrm>
            <a:off x="4114800" y="3685032"/>
            <a:ext cx="4553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5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caching reduces latency globally</a:t>
            </a:r>
            <a:endParaRPr lang="en-US" sz="1000" dirty="0"/>
          </a:p>
        </p:txBody>
      </p:sp>
      <p:sp>
        <p:nvSpPr>
          <p:cNvPr id="44" name="Shape 33"/>
          <p:cNvSpPr/>
          <p:nvPr/>
        </p:nvSpPr>
        <p:spPr>
          <a:xfrm>
            <a:off x="3474720" y="4206240"/>
            <a:ext cx="5303520" cy="658368"/>
          </a:xfrm>
          <a:prstGeom prst="roundRect">
            <a:avLst>
              <a:gd name="adj" fmla="val 13889"/>
            </a:avLst>
          </a:prstGeom>
          <a:solidFill>
            <a:srgbClr val="162644"/>
          </a:solidFill>
          <a:ln w="6350">
            <a:solidFill>
              <a:srgbClr val="22C55E">
                <a:alpha val="50000"/>
              </a:srgbClr>
            </a:solidFill>
            <a:prstDash val="solid"/>
          </a:ln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45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611880" y="4334256"/>
            <a:ext cx="384048" cy="384048"/>
          </a:xfrm>
          <a:prstGeom prst="rect">
            <a:avLst/>
          </a:prstGeom>
        </p:spPr>
      </p:pic>
      <p:sp>
        <p:nvSpPr>
          <p:cNvPr id="46" name="Text 34"/>
          <p:cNvSpPr/>
          <p:nvPr/>
        </p:nvSpPr>
        <p:spPr>
          <a:xfrm>
            <a:off x="4114800" y="4270248"/>
            <a:ext cx="4553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Microservices</a:t>
            </a:r>
            <a:endParaRPr lang="en-US" sz="1200" dirty="0"/>
          </a:p>
        </p:txBody>
      </p:sp>
      <p:sp>
        <p:nvSpPr>
          <p:cNvPr id="47" name="Text 35"/>
          <p:cNvSpPr/>
          <p:nvPr/>
        </p:nvSpPr>
        <p:spPr>
          <a:xfrm>
            <a:off x="4114800" y="4535424"/>
            <a:ext cx="4553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5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horizontal scaling without session state</a:t>
            </a:r>
            <a:endParaRPr lang="en-US" sz="1000" dirty="0"/>
          </a:p>
        </p:txBody>
      </p:sp>
      <p:sp>
        <p:nvSpPr>
          <p:cNvPr id="48" name="Text 36"/>
          <p:cNvSpPr/>
          <p:nvPr/>
        </p:nvSpPr>
        <p:spPr>
          <a:xfrm>
            <a:off x="274320" y="484632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92608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Achievements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3977640" cy="658368"/>
          </a:xfrm>
          <a:prstGeom prst="roundRect">
            <a:avLst>
              <a:gd name="adj" fmla="val 13889"/>
            </a:avLst>
          </a:prstGeom>
          <a:solidFill>
            <a:srgbClr val="162644"/>
          </a:solidFill>
          <a:ln w="6350">
            <a:solidFill>
              <a:srgbClr val="00C9A7">
                <a:alpha val="52000"/>
              </a:srgbClr>
            </a:solidFill>
            <a:prstDash val="solid"/>
          </a:ln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" y="996696"/>
            <a:ext cx="402336" cy="4023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05840" y="1033272"/>
            <a:ext cx="32278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Cloud-native healthcare platform on AWS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663440" y="868680"/>
            <a:ext cx="3977640" cy="658368"/>
          </a:xfrm>
          <a:prstGeom prst="roundRect">
            <a:avLst>
              <a:gd name="adj" fmla="val 13889"/>
            </a:avLst>
          </a:prstGeom>
          <a:solidFill>
            <a:srgbClr val="162644"/>
          </a:solidFill>
          <a:ln w="6350">
            <a:solidFill>
              <a:srgbClr val="38BDF8">
                <a:alpha val="52000"/>
              </a:srgbClr>
            </a:solidFill>
            <a:prstDash val="solid"/>
          </a:ln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1456" y="996696"/>
            <a:ext cx="402336" cy="40233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303520" y="1033272"/>
            <a:ext cx="32278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microservices — 12 services on EKS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365760" y="1636776"/>
            <a:ext cx="3977640" cy="658368"/>
          </a:xfrm>
          <a:prstGeom prst="roundRect">
            <a:avLst>
              <a:gd name="adj" fmla="val 13889"/>
            </a:avLst>
          </a:prstGeom>
          <a:solidFill>
            <a:srgbClr val="162644"/>
          </a:solidFill>
          <a:ln w="6350">
            <a:solidFill>
              <a:srgbClr val="22C55E">
                <a:alpha val="52000"/>
              </a:srgbClr>
            </a:solidFill>
            <a:prstDash val="solid"/>
          </a:ln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" y="1764792"/>
            <a:ext cx="402336" cy="40233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05840" y="1801368"/>
            <a:ext cx="32278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GitOps continuous deployment with ArgoCD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4663440" y="1636776"/>
            <a:ext cx="3977640" cy="658368"/>
          </a:xfrm>
          <a:prstGeom prst="roundRect">
            <a:avLst>
              <a:gd name="adj" fmla="val 13889"/>
            </a:avLst>
          </a:prstGeom>
          <a:solidFill>
            <a:srgbClr val="162644"/>
          </a:solidFill>
          <a:ln w="6350">
            <a:solidFill>
              <a:srgbClr val="F59E0B">
                <a:alpha val="52000"/>
              </a:srgbClr>
            </a:solidFill>
            <a:prstDash val="solid"/>
          </a:ln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91456" y="1764792"/>
            <a:ext cx="402336" cy="402336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5303520" y="1801368"/>
            <a:ext cx="32278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secrets management — zero hardcoded creds</a:t>
            </a:r>
            <a:endParaRPr lang="en-US" sz="1300" dirty="0"/>
          </a:p>
        </p:txBody>
      </p:sp>
      <p:sp>
        <p:nvSpPr>
          <p:cNvPr id="16" name="Shape 10"/>
          <p:cNvSpPr/>
          <p:nvPr/>
        </p:nvSpPr>
        <p:spPr>
          <a:xfrm>
            <a:off x="365760" y="2404872"/>
            <a:ext cx="3977640" cy="658368"/>
          </a:xfrm>
          <a:prstGeom prst="roundRect">
            <a:avLst>
              <a:gd name="adj" fmla="val 13889"/>
            </a:avLst>
          </a:prstGeom>
          <a:solidFill>
            <a:srgbClr val="162644"/>
          </a:solidFill>
          <a:ln w="6350">
            <a:solidFill>
              <a:srgbClr val="38BDF8">
                <a:alpha val="52000"/>
              </a:srgbClr>
            </a:solidFill>
            <a:prstDash val="solid"/>
          </a:ln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3776" y="2532888"/>
            <a:ext cx="402336" cy="402336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005840" y="2569464"/>
            <a:ext cx="32278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healthcare assistant via Bedrock</a:t>
            </a:r>
            <a:endParaRPr lang="en-US" sz="1300" dirty="0"/>
          </a:p>
        </p:txBody>
      </p:sp>
      <p:sp>
        <p:nvSpPr>
          <p:cNvPr id="19" name="Shape 12"/>
          <p:cNvSpPr/>
          <p:nvPr/>
        </p:nvSpPr>
        <p:spPr>
          <a:xfrm>
            <a:off x="4663440" y="2404872"/>
            <a:ext cx="3977640" cy="658368"/>
          </a:xfrm>
          <a:prstGeom prst="roundRect">
            <a:avLst>
              <a:gd name="adj" fmla="val 13889"/>
            </a:avLst>
          </a:prstGeom>
          <a:solidFill>
            <a:srgbClr val="162644"/>
          </a:solidFill>
          <a:ln w="6350">
            <a:solidFill>
              <a:srgbClr val="00C9A7">
                <a:alpha val="52000"/>
              </a:srgbClr>
            </a:solidFill>
            <a:prstDash val="solid"/>
          </a:ln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91456" y="2532888"/>
            <a:ext cx="402336" cy="402336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5303520" y="2569464"/>
            <a:ext cx="32278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CI/CD with GitHub Actions + OIDC</a:t>
            </a:r>
            <a:endParaRPr lang="en-US" sz="1300" dirty="0"/>
          </a:p>
        </p:txBody>
      </p:sp>
      <p:sp>
        <p:nvSpPr>
          <p:cNvPr id="22" name="Shape 14"/>
          <p:cNvSpPr/>
          <p:nvPr/>
        </p:nvSpPr>
        <p:spPr>
          <a:xfrm>
            <a:off x="365760" y="3172968"/>
            <a:ext cx="3977640" cy="658368"/>
          </a:xfrm>
          <a:prstGeom prst="roundRect">
            <a:avLst>
              <a:gd name="adj" fmla="val 13889"/>
            </a:avLst>
          </a:prstGeom>
          <a:solidFill>
            <a:srgbClr val="162644"/>
          </a:solidFill>
          <a:ln w="6350">
            <a:solidFill>
              <a:srgbClr val="22C55E">
                <a:alpha val="52000"/>
              </a:srgbClr>
            </a:solidFill>
            <a:prstDash val="solid"/>
          </a:ln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23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3776" y="3300984"/>
            <a:ext cx="402336" cy="402336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1005840" y="3337560"/>
            <a:ext cx="32278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as Code with Terraform</a:t>
            </a:r>
            <a:endParaRPr lang="en-US" sz="1300" dirty="0"/>
          </a:p>
        </p:txBody>
      </p:sp>
      <p:sp>
        <p:nvSpPr>
          <p:cNvPr id="25" name="Shape 16"/>
          <p:cNvSpPr/>
          <p:nvPr/>
        </p:nvSpPr>
        <p:spPr>
          <a:xfrm>
            <a:off x="4663440" y="3172968"/>
            <a:ext cx="3977640" cy="658368"/>
          </a:xfrm>
          <a:prstGeom prst="roundRect">
            <a:avLst>
              <a:gd name="adj" fmla="val 13889"/>
            </a:avLst>
          </a:prstGeom>
          <a:solidFill>
            <a:srgbClr val="162644"/>
          </a:solidFill>
          <a:ln w="6350">
            <a:solidFill>
              <a:srgbClr val="F59E0B">
                <a:alpha val="52000"/>
              </a:srgbClr>
            </a:solidFill>
            <a:prstDash val="solid"/>
          </a:ln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26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91456" y="3300984"/>
            <a:ext cx="402336" cy="402336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5303520" y="3337560"/>
            <a:ext cx="32278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availability Multi-AZ AWS architecture</a:t>
            </a:r>
            <a:endParaRPr lang="en-US" sz="1300" dirty="0"/>
          </a:p>
        </p:txBody>
      </p:sp>
      <p:sp>
        <p:nvSpPr>
          <p:cNvPr id="28" name="Text 18"/>
          <p:cNvSpPr/>
          <p:nvPr/>
        </p:nvSpPr>
        <p:spPr>
          <a:xfrm>
            <a:off x="274320" y="484632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23760" y="274320"/>
            <a:ext cx="82296" cy="82296"/>
          </a:xfrm>
          <a:prstGeom prst="ellipse">
            <a:avLst/>
          </a:prstGeom>
          <a:solidFill>
            <a:srgbClr val="00C9A7">
              <a:alpha val="28000"/>
            </a:srgbClr>
          </a:solidFill>
          <a:ln w="12700">
            <a:solidFill>
              <a:srgbClr val="00C9A7">
                <a:alpha val="2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223760" y="548640"/>
            <a:ext cx="82296" cy="82296"/>
          </a:xfrm>
          <a:prstGeom prst="ellipse">
            <a:avLst/>
          </a:prstGeom>
          <a:solidFill>
            <a:srgbClr val="00C9A7">
              <a:alpha val="28000"/>
            </a:srgbClr>
          </a:solidFill>
          <a:ln w="12700">
            <a:solidFill>
              <a:srgbClr val="00C9A7">
                <a:alpha val="2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223760" y="822960"/>
            <a:ext cx="82296" cy="82296"/>
          </a:xfrm>
          <a:prstGeom prst="ellipse">
            <a:avLst/>
          </a:prstGeom>
          <a:solidFill>
            <a:srgbClr val="00C9A7">
              <a:alpha val="28000"/>
            </a:srgbClr>
          </a:solidFill>
          <a:ln w="12700">
            <a:solidFill>
              <a:srgbClr val="00C9A7">
                <a:alpha val="2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223760" y="1097280"/>
            <a:ext cx="82296" cy="82296"/>
          </a:xfrm>
          <a:prstGeom prst="ellipse">
            <a:avLst/>
          </a:prstGeom>
          <a:solidFill>
            <a:srgbClr val="00C9A7">
              <a:alpha val="28000"/>
            </a:srgbClr>
          </a:solidFill>
          <a:ln w="12700">
            <a:solidFill>
              <a:srgbClr val="00C9A7">
                <a:alpha val="2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223760" y="1371600"/>
            <a:ext cx="82296" cy="82296"/>
          </a:xfrm>
          <a:prstGeom prst="ellipse">
            <a:avLst/>
          </a:prstGeom>
          <a:solidFill>
            <a:srgbClr val="00C9A7">
              <a:alpha val="28000"/>
            </a:srgbClr>
          </a:solidFill>
          <a:ln w="12700">
            <a:solidFill>
              <a:srgbClr val="00C9A7">
                <a:alpha val="2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0" y="274320"/>
            <a:ext cx="82296" cy="82296"/>
          </a:xfrm>
          <a:prstGeom prst="ellipse">
            <a:avLst/>
          </a:prstGeom>
          <a:solidFill>
            <a:srgbClr val="00C9A7">
              <a:alpha val="28000"/>
            </a:srgbClr>
          </a:solidFill>
          <a:ln w="12700">
            <a:solidFill>
              <a:srgbClr val="00C9A7">
                <a:alpha val="2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98080" y="548640"/>
            <a:ext cx="82296" cy="82296"/>
          </a:xfrm>
          <a:prstGeom prst="ellipse">
            <a:avLst/>
          </a:prstGeom>
          <a:solidFill>
            <a:srgbClr val="00C9A7">
              <a:alpha val="28000"/>
            </a:srgbClr>
          </a:solidFill>
          <a:ln w="12700">
            <a:solidFill>
              <a:srgbClr val="00C9A7">
                <a:alpha val="2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98080" y="822960"/>
            <a:ext cx="82296" cy="82296"/>
          </a:xfrm>
          <a:prstGeom prst="ellipse">
            <a:avLst/>
          </a:prstGeom>
          <a:solidFill>
            <a:srgbClr val="00C9A7">
              <a:alpha val="28000"/>
            </a:srgbClr>
          </a:solidFill>
          <a:ln w="12700">
            <a:solidFill>
              <a:srgbClr val="00C9A7">
                <a:alpha val="2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98080" y="1097280"/>
            <a:ext cx="82296" cy="82296"/>
          </a:xfrm>
          <a:prstGeom prst="ellipse">
            <a:avLst/>
          </a:prstGeom>
          <a:solidFill>
            <a:srgbClr val="00C9A7">
              <a:alpha val="28000"/>
            </a:srgbClr>
          </a:solidFill>
          <a:ln w="12700">
            <a:solidFill>
              <a:srgbClr val="00C9A7">
                <a:alpha val="2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498080" y="1371600"/>
            <a:ext cx="82296" cy="82296"/>
          </a:xfrm>
          <a:prstGeom prst="ellipse">
            <a:avLst/>
          </a:prstGeom>
          <a:solidFill>
            <a:srgbClr val="00C9A7">
              <a:alpha val="28000"/>
            </a:srgbClr>
          </a:solidFill>
          <a:ln w="12700">
            <a:solidFill>
              <a:srgbClr val="00C9A7">
                <a:alpha val="2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72400" y="274320"/>
            <a:ext cx="82296" cy="82296"/>
          </a:xfrm>
          <a:prstGeom prst="ellipse">
            <a:avLst/>
          </a:prstGeom>
          <a:solidFill>
            <a:srgbClr val="00C9A7">
              <a:alpha val="28000"/>
            </a:srgbClr>
          </a:solidFill>
          <a:ln w="12700">
            <a:solidFill>
              <a:srgbClr val="00C9A7">
                <a:alpha val="2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0" y="548640"/>
            <a:ext cx="82296" cy="82296"/>
          </a:xfrm>
          <a:prstGeom prst="ellipse">
            <a:avLst/>
          </a:prstGeom>
          <a:solidFill>
            <a:srgbClr val="00C9A7">
              <a:alpha val="28000"/>
            </a:srgbClr>
          </a:solidFill>
          <a:ln w="12700">
            <a:solidFill>
              <a:srgbClr val="00C9A7">
                <a:alpha val="2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72400" y="822960"/>
            <a:ext cx="82296" cy="82296"/>
          </a:xfrm>
          <a:prstGeom prst="ellipse">
            <a:avLst/>
          </a:prstGeom>
          <a:solidFill>
            <a:srgbClr val="00C9A7">
              <a:alpha val="28000"/>
            </a:srgbClr>
          </a:solidFill>
          <a:ln w="12700">
            <a:solidFill>
              <a:srgbClr val="00C9A7">
                <a:alpha val="2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0" y="1097280"/>
            <a:ext cx="82296" cy="82296"/>
          </a:xfrm>
          <a:prstGeom prst="ellipse">
            <a:avLst/>
          </a:prstGeom>
          <a:solidFill>
            <a:srgbClr val="00C9A7">
              <a:alpha val="28000"/>
            </a:srgbClr>
          </a:solidFill>
          <a:ln w="12700">
            <a:solidFill>
              <a:srgbClr val="00C9A7">
                <a:alpha val="2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72400" y="1371600"/>
            <a:ext cx="82296" cy="82296"/>
          </a:xfrm>
          <a:prstGeom prst="ellipse">
            <a:avLst/>
          </a:prstGeom>
          <a:solidFill>
            <a:srgbClr val="00C9A7">
              <a:alpha val="28000"/>
            </a:srgbClr>
          </a:solidFill>
          <a:ln w="12700">
            <a:solidFill>
              <a:srgbClr val="00C9A7">
                <a:alpha val="2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46720" y="274320"/>
            <a:ext cx="82296" cy="82296"/>
          </a:xfrm>
          <a:prstGeom prst="ellipse">
            <a:avLst/>
          </a:prstGeom>
          <a:solidFill>
            <a:srgbClr val="00C9A7">
              <a:alpha val="28000"/>
            </a:srgbClr>
          </a:solidFill>
          <a:ln w="12700">
            <a:solidFill>
              <a:srgbClr val="00C9A7">
                <a:alpha val="2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46720" y="548640"/>
            <a:ext cx="82296" cy="82296"/>
          </a:xfrm>
          <a:prstGeom prst="ellipse">
            <a:avLst/>
          </a:prstGeom>
          <a:solidFill>
            <a:srgbClr val="00C9A7">
              <a:alpha val="28000"/>
            </a:srgbClr>
          </a:solidFill>
          <a:ln w="12700">
            <a:solidFill>
              <a:srgbClr val="00C9A7">
                <a:alpha val="2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46720" y="822960"/>
            <a:ext cx="82296" cy="82296"/>
          </a:xfrm>
          <a:prstGeom prst="ellipse">
            <a:avLst/>
          </a:prstGeom>
          <a:solidFill>
            <a:srgbClr val="00C9A7">
              <a:alpha val="28000"/>
            </a:srgbClr>
          </a:solidFill>
          <a:ln w="12700">
            <a:solidFill>
              <a:srgbClr val="00C9A7">
                <a:alpha val="2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046720" y="1097280"/>
            <a:ext cx="82296" cy="82296"/>
          </a:xfrm>
          <a:prstGeom prst="ellipse">
            <a:avLst/>
          </a:prstGeom>
          <a:solidFill>
            <a:srgbClr val="00C9A7">
              <a:alpha val="28000"/>
            </a:srgbClr>
          </a:solidFill>
          <a:ln w="12700">
            <a:solidFill>
              <a:srgbClr val="00C9A7">
                <a:alpha val="2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046720" y="1371600"/>
            <a:ext cx="82296" cy="82296"/>
          </a:xfrm>
          <a:prstGeom prst="ellipse">
            <a:avLst/>
          </a:prstGeom>
          <a:solidFill>
            <a:srgbClr val="00C9A7">
              <a:alpha val="28000"/>
            </a:srgbClr>
          </a:solidFill>
          <a:ln w="12700">
            <a:solidFill>
              <a:srgbClr val="00C9A7">
                <a:alpha val="2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321040" y="274320"/>
            <a:ext cx="82296" cy="82296"/>
          </a:xfrm>
          <a:prstGeom prst="ellipse">
            <a:avLst/>
          </a:prstGeom>
          <a:solidFill>
            <a:srgbClr val="00C9A7">
              <a:alpha val="28000"/>
            </a:srgbClr>
          </a:solidFill>
          <a:ln w="12700">
            <a:solidFill>
              <a:srgbClr val="00C9A7">
                <a:alpha val="28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321040" y="548640"/>
            <a:ext cx="82296" cy="82296"/>
          </a:xfrm>
          <a:prstGeom prst="ellipse">
            <a:avLst/>
          </a:prstGeom>
          <a:solidFill>
            <a:srgbClr val="00C9A7">
              <a:alpha val="28000"/>
            </a:srgbClr>
          </a:solidFill>
          <a:ln w="12700">
            <a:solidFill>
              <a:srgbClr val="00C9A7">
                <a:alpha val="28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321040" y="822960"/>
            <a:ext cx="82296" cy="82296"/>
          </a:xfrm>
          <a:prstGeom prst="ellipse">
            <a:avLst/>
          </a:prstGeom>
          <a:solidFill>
            <a:srgbClr val="00C9A7">
              <a:alpha val="28000"/>
            </a:srgbClr>
          </a:solidFill>
          <a:ln w="12700">
            <a:solidFill>
              <a:srgbClr val="00C9A7">
                <a:alpha val="28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321040" y="1097280"/>
            <a:ext cx="82296" cy="82296"/>
          </a:xfrm>
          <a:prstGeom prst="ellipse">
            <a:avLst/>
          </a:prstGeom>
          <a:solidFill>
            <a:srgbClr val="00C9A7">
              <a:alpha val="28000"/>
            </a:srgbClr>
          </a:solidFill>
          <a:ln w="12700">
            <a:solidFill>
              <a:srgbClr val="00C9A7">
                <a:alpha val="28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321040" y="1371600"/>
            <a:ext cx="82296" cy="82296"/>
          </a:xfrm>
          <a:prstGeom prst="ellipse">
            <a:avLst/>
          </a:prstGeom>
          <a:solidFill>
            <a:srgbClr val="00C9A7">
              <a:alpha val="28000"/>
            </a:srgbClr>
          </a:solidFill>
          <a:ln w="12700">
            <a:solidFill>
              <a:srgbClr val="00C9A7">
                <a:alpha val="28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74320" y="3474720"/>
            <a:ext cx="82296" cy="82296"/>
          </a:xfrm>
          <a:prstGeom prst="ellipse">
            <a:avLst/>
          </a:prstGeom>
          <a:solidFill>
            <a:srgbClr val="38BDF8">
              <a:alpha val="26000"/>
            </a:srgbClr>
          </a:solidFill>
          <a:ln w="12700">
            <a:solidFill>
              <a:srgbClr val="38BDF8">
                <a:alpha val="26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74320" y="3749040"/>
            <a:ext cx="82296" cy="82296"/>
          </a:xfrm>
          <a:prstGeom prst="ellipse">
            <a:avLst/>
          </a:prstGeom>
          <a:solidFill>
            <a:srgbClr val="38BDF8">
              <a:alpha val="26000"/>
            </a:srgbClr>
          </a:solidFill>
          <a:ln w="12700">
            <a:solidFill>
              <a:srgbClr val="38BDF8">
                <a:alpha val="26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74320" y="4023360"/>
            <a:ext cx="82296" cy="82296"/>
          </a:xfrm>
          <a:prstGeom prst="ellipse">
            <a:avLst/>
          </a:prstGeom>
          <a:solidFill>
            <a:srgbClr val="38BDF8">
              <a:alpha val="26000"/>
            </a:srgbClr>
          </a:solidFill>
          <a:ln w="12700">
            <a:solidFill>
              <a:srgbClr val="38BDF8">
                <a:alpha val="26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74320" y="4297680"/>
            <a:ext cx="82296" cy="82296"/>
          </a:xfrm>
          <a:prstGeom prst="ellipse">
            <a:avLst/>
          </a:prstGeom>
          <a:solidFill>
            <a:srgbClr val="38BDF8">
              <a:alpha val="26000"/>
            </a:srgbClr>
          </a:solidFill>
          <a:ln w="12700">
            <a:solidFill>
              <a:srgbClr val="38BDF8">
                <a:alpha val="26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48640" y="3474720"/>
            <a:ext cx="82296" cy="82296"/>
          </a:xfrm>
          <a:prstGeom prst="ellipse">
            <a:avLst/>
          </a:prstGeom>
          <a:solidFill>
            <a:srgbClr val="38BDF8">
              <a:alpha val="26000"/>
            </a:srgbClr>
          </a:solidFill>
          <a:ln w="12700">
            <a:solidFill>
              <a:srgbClr val="38BDF8">
                <a:alpha val="26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48640" y="3749040"/>
            <a:ext cx="82296" cy="82296"/>
          </a:xfrm>
          <a:prstGeom prst="ellipse">
            <a:avLst/>
          </a:prstGeom>
          <a:solidFill>
            <a:srgbClr val="38BDF8">
              <a:alpha val="26000"/>
            </a:srgbClr>
          </a:solidFill>
          <a:ln w="12700">
            <a:solidFill>
              <a:srgbClr val="38BDF8">
                <a:alpha val="26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48640" y="4023360"/>
            <a:ext cx="82296" cy="82296"/>
          </a:xfrm>
          <a:prstGeom prst="ellipse">
            <a:avLst/>
          </a:prstGeom>
          <a:solidFill>
            <a:srgbClr val="38BDF8">
              <a:alpha val="26000"/>
            </a:srgbClr>
          </a:solidFill>
          <a:ln w="12700">
            <a:solidFill>
              <a:srgbClr val="38BDF8">
                <a:alpha val="26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48640" y="4297680"/>
            <a:ext cx="82296" cy="82296"/>
          </a:xfrm>
          <a:prstGeom prst="ellipse">
            <a:avLst/>
          </a:prstGeom>
          <a:solidFill>
            <a:srgbClr val="38BDF8">
              <a:alpha val="26000"/>
            </a:srgbClr>
          </a:solidFill>
          <a:ln w="12700">
            <a:solidFill>
              <a:srgbClr val="38BDF8">
                <a:alpha val="26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22960" y="3474720"/>
            <a:ext cx="82296" cy="82296"/>
          </a:xfrm>
          <a:prstGeom prst="ellipse">
            <a:avLst/>
          </a:prstGeom>
          <a:solidFill>
            <a:srgbClr val="38BDF8">
              <a:alpha val="26000"/>
            </a:srgbClr>
          </a:solidFill>
          <a:ln w="12700">
            <a:solidFill>
              <a:srgbClr val="38BDF8">
                <a:alpha val="26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22960" y="3749040"/>
            <a:ext cx="82296" cy="82296"/>
          </a:xfrm>
          <a:prstGeom prst="ellipse">
            <a:avLst/>
          </a:prstGeom>
          <a:solidFill>
            <a:srgbClr val="38BDF8">
              <a:alpha val="26000"/>
            </a:srgbClr>
          </a:solidFill>
          <a:ln w="12700">
            <a:solidFill>
              <a:srgbClr val="38BDF8">
                <a:alpha val="26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22960" y="4023360"/>
            <a:ext cx="82296" cy="82296"/>
          </a:xfrm>
          <a:prstGeom prst="ellipse">
            <a:avLst/>
          </a:prstGeom>
          <a:solidFill>
            <a:srgbClr val="38BDF8">
              <a:alpha val="26000"/>
            </a:srgbClr>
          </a:solidFill>
          <a:ln w="12700">
            <a:solidFill>
              <a:srgbClr val="38BDF8">
                <a:alpha val="26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22960" y="4297680"/>
            <a:ext cx="82296" cy="82296"/>
          </a:xfrm>
          <a:prstGeom prst="ellipse">
            <a:avLst/>
          </a:prstGeom>
          <a:solidFill>
            <a:srgbClr val="38BDF8">
              <a:alpha val="26000"/>
            </a:srgbClr>
          </a:solidFill>
          <a:ln w="12700">
            <a:solidFill>
              <a:srgbClr val="38BDF8">
                <a:alpha val="26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097280" y="3474720"/>
            <a:ext cx="82296" cy="82296"/>
          </a:xfrm>
          <a:prstGeom prst="ellipse">
            <a:avLst/>
          </a:prstGeom>
          <a:solidFill>
            <a:srgbClr val="38BDF8">
              <a:alpha val="26000"/>
            </a:srgbClr>
          </a:solidFill>
          <a:ln w="12700">
            <a:solidFill>
              <a:srgbClr val="38BDF8">
                <a:alpha val="26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097280" y="3749040"/>
            <a:ext cx="82296" cy="82296"/>
          </a:xfrm>
          <a:prstGeom prst="ellipse">
            <a:avLst/>
          </a:prstGeom>
          <a:solidFill>
            <a:srgbClr val="38BDF8">
              <a:alpha val="26000"/>
            </a:srgbClr>
          </a:solidFill>
          <a:ln w="12700">
            <a:solidFill>
              <a:srgbClr val="38BDF8">
                <a:alpha val="26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97280" y="4023360"/>
            <a:ext cx="82296" cy="82296"/>
          </a:xfrm>
          <a:prstGeom prst="ellipse">
            <a:avLst/>
          </a:prstGeom>
          <a:solidFill>
            <a:srgbClr val="38BDF8">
              <a:alpha val="26000"/>
            </a:srgbClr>
          </a:solidFill>
          <a:ln w="12700">
            <a:solidFill>
              <a:srgbClr val="38BDF8">
                <a:alpha val="26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97280" y="4297680"/>
            <a:ext cx="82296" cy="82296"/>
          </a:xfrm>
          <a:prstGeom prst="ellipse">
            <a:avLst/>
          </a:prstGeom>
          <a:solidFill>
            <a:srgbClr val="38BDF8">
              <a:alpha val="26000"/>
            </a:srgbClr>
          </a:solidFill>
          <a:ln w="12700">
            <a:solidFill>
              <a:srgbClr val="38BDF8">
                <a:alpha val="26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371600" y="594360"/>
            <a:ext cx="6400800" cy="3931920"/>
          </a:xfrm>
          <a:prstGeom prst="roundRect">
            <a:avLst>
              <a:gd name="adj" fmla="val 4186"/>
            </a:avLst>
          </a:prstGeom>
          <a:solidFill>
            <a:srgbClr val="0F1F3D">
              <a:alpha val="80000"/>
            </a:srgbClr>
          </a:solidFill>
          <a:ln w="10160">
            <a:solidFill>
              <a:srgbClr val="00C9A7">
                <a:alpha val="50000"/>
              </a:srgbClr>
            </a:solidFill>
            <a:prstDash val="solid"/>
          </a:ln>
          <a:effectLst>
            <a:outerShdw blurRad="508000" dist="127000" dir="5400000" algn="bl" rotWithShape="0">
              <a:srgbClr val="000000">
                <a:alpha val="40000"/>
              </a:srgbClr>
            </a:outerShdw>
          </a:effectLst>
        </p:spPr>
      </p:sp>
      <p:pic>
        <p:nvPicPr>
          <p:cNvPr id="44" name="Image 0" descr="preencoded.png"/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6583680" y="2377440"/>
            <a:ext cx="1828800" cy="1828800"/>
          </a:xfrm>
          <a:prstGeom prst="rect">
            <a:avLst/>
          </a:prstGeom>
        </p:spPr>
      </p:pic>
      <p:sp>
        <p:nvSpPr>
          <p:cNvPr id="45" name="Text 42"/>
          <p:cNvSpPr/>
          <p:nvPr/>
        </p:nvSpPr>
        <p:spPr>
          <a:xfrm>
            <a:off x="1371600" y="109728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46" name="Shape 43"/>
          <p:cNvSpPr/>
          <p:nvPr/>
        </p:nvSpPr>
        <p:spPr>
          <a:xfrm>
            <a:off x="3383280" y="2212848"/>
            <a:ext cx="2377440" cy="50292"/>
          </a:xfrm>
          <a:prstGeom prst="roundRect">
            <a:avLst>
              <a:gd name="adj" fmla="val 36364"/>
            </a:avLst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1371600" y="2359152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600" dirty="0"/>
          </a:p>
        </p:txBody>
      </p:sp>
      <p:sp>
        <p:nvSpPr>
          <p:cNvPr id="48" name="Shape 45"/>
          <p:cNvSpPr/>
          <p:nvPr/>
        </p:nvSpPr>
        <p:spPr>
          <a:xfrm>
            <a:off x="2286000" y="3063240"/>
            <a:ext cx="4572000" cy="50292"/>
          </a:xfrm>
          <a:prstGeom prst="roundRect">
            <a:avLst>
              <a:gd name="adj" fmla="val 36364"/>
            </a:avLst>
          </a:prstGeom>
          <a:solidFill>
            <a:srgbClr val="8BA4BF">
              <a:alpha val="40000"/>
            </a:srgbClr>
          </a:solidFill>
          <a:ln w="12700">
            <a:solidFill>
              <a:srgbClr val="8BA4BF">
                <a:alpha val="40000"/>
              </a:srgbClr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1371600" y="3218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5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ElderPing  —  Healthcare Platform on AWS</a:t>
            </a:r>
            <a:endParaRPr lang="en-US" sz="1400" dirty="0"/>
          </a:p>
        </p:txBody>
      </p:sp>
      <p:sp>
        <p:nvSpPr>
          <p:cNvPr id="50" name="Shape 47"/>
          <p:cNvSpPr/>
          <p:nvPr/>
        </p:nvSpPr>
        <p:spPr>
          <a:xfrm>
            <a:off x="6675120" y="4663440"/>
            <a:ext cx="2240280" cy="274320"/>
          </a:xfrm>
          <a:prstGeom prst="roundRect">
            <a:avLst>
              <a:gd name="adj" fmla="val 23333"/>
            </a:avLst>
          </a:prstGeom>
          <a:solidFill>
            <a:srgbClr val="162644"/>
          </a:solidFill>
          <a:ln w="6350">
            <a:solidFill>
              <a:srgbClr val="00C9A7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6675120" y="4672584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A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Certified  •  GH200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668</Words>
  <Application>Microsoft Office PowerPoint</Application>
  <PresentationFormat>On-screen Show (16:9)</PresentationFormat>
  <Paragraphs>231</Paragraphs>
  <Slides>16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ElderPing – Healthcare Platform on AWS</dc:title>
  <dc:subject>PptxGenJS Presentation</dc:subject>
  <dc:creator>ElderPing</dc:creator>
  <cp:lastModifiedBy>ARUN SIMON</cp:lastModifiedBy>
  <cp:revision>2</cp:revision>
  <dcterms:created xsi:type="dcterms:W3CDTF">2026-06-25T18:15:49Z</dcterms:created>
  <dcterms:modified xsi:type="dcterms:W3CDTF">2026-06-25T18:30:56Z</dcterms:modified>
</cp:coreProperties>
</file>